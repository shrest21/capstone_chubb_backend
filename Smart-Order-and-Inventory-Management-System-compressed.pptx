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783398" y="2475915"/>
            <a:ext cx="5494655" cy="4455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72424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40"/>
            <a:ext cx="1722602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11430" y="3414217"/>
            <a:ext cx="6078220" cy="1394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5813" y="2697925"/>
            <a:ext cx="13039090" cy="4064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500"/>
              </a:lnSpc>
              <a:tabLst>
                <a:tab pos="1656714" algn="l"/>
                <a:tab pos="3240405" algn="l"/>
                <a:tab pos="3425190" algn="l"/>
                <a:tab pos="3768090" algn="l"/>
              </a:tabLst>
            </a:pPr>
            <a:r>
              <a:rPr dirty="0" spc="-10"/>
              <a:t>Smart</a:t>
            </a:r>
            <a:r>
              <a:rPr dirty="0"/>
              <a:t>	</a:t>
            </a:r>
            <a:r>
              <a:rPr dirty="0" spc="-10"/>
              <a:t>Order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Inventory Management</a:t>
            </a:r>
            <a:r>
              <a:rPr dirty="0"/>
              <a:t>	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2739606"/>
            <a:ext cx="1150810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56714" algn="l"/>
                <a:tab pos="3240405" algn="l"/>
                <a:tab pos="3768090" algn="l"/>
                <a:tab pos="6219825" algn="l"/>
                <a:tab pos="9632950" algn="l"/>
              </a:tabLst>
            </a:pPr>
            <a:r>
              <a:rPr dirty="0" spc="-10"/>
              <a:t>Smart</a:t>
            </a:r>
            <a:r>
              <a:rPr dirty="0"/>
              <a:t>	</a:t>
            </a:r>
            <a:r>
              <a:rPr dirty="0" spc="-10"/>
              <a:t>Order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Inventory</a:t>
            </a:r>
            <a:r>
              <a:rPr dirty="0"/>
              <a:t>	</a:t>
            </a:r>
            <a:r>
              <a:rPr dirty="0" spc="-10"/>
              <a:t>Management</a:t>
            </a:r>
            <a:r>
              <a:rPr dirty="0"/>
              <a:t>	</a:t>
            </a:r>
            <a:r>
              <a:rPr dirty="0" spc="-10"/>
              <a:t>System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023" y="3539223"/>
            <a:ext cx="343154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>
                <a:latin typeface="Arial"/>
                <a:cs typeface="Arial"/>
              </a:rPr>
              <a:t>Capstone</a:t>
            </a:r>
            <a:r>
              <a:rPr dirty="0" sz="3500" spc="-180">
                <a:latin typeface="Arial"/>
                <a:cs typeface="Arial"/>
              </a:rPr>
              <a:t> </a:t>
            </a:r>
            <a:r>
              <a:rPr dirty="0" sz="3500" spc="-10">
                <a:latin typeface="Arial"/>
                <a:cs typeface="Arial"/>
              </a:rPr>
              <a:t>Project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5023" y="4539564"/>
            <a:ext cx="7370445" cy="960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Presented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by: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Shrest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Gangatkar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Tech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Stack: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Spring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Boot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|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Angular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|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Microservices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|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|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RabbitMQ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2635186"/>
            <a:ext cx="480568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48535" algn="l"/>
              </a:tabLst>
            </a:pPr>
            <a:r>
              <a:rPr dirty="0" spc="-10"/>
              <a:t>Problem</a:t>
            </a:r>
            <a:r>
              <a:rPr dirty="0"/>
              <a:t>	</a:t>
            </a:r>
            <a:r>
              <a:rPr dirty="0" spc="-10"/>
              <a:t>Statement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023" y="3895915"/>
            <a:ext cx="5406390" cy="17075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Manual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inventory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tracking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inefficient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Lack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of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real-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time stock</a:t>
            </a:r>
            <a:r>
              <a:rPr dirty="0" sz="1850" spc="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visibility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No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role-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based access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control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Monolithic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systems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hard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scale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2046427"/>
            <a:ext cx="85324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5670" algn="l"/>
                <a:tab pos="4669155" algn="l"/>
                <a:tab pos="5196840" algn="l"/>
                <a:tab pos="6315075" algn="l"/>
              </a:tabLst>
            </a:pPr>
            <a:r>
              <a:rPr dirty="0" spc="-10"/>
              <a:t>Solution</a:t>
            </a:r>
            <a:r>
              <a:rPr dirty="0"/>
              <a:t>	</a:t>
            </a:r>
            <a:r>
              <a:rPr dirty="0" spc="-10"/>
              <a:t>Overview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25"/>
              <a:t>Key</a:t>
            </a:r>
            <a:r>
              <a:rPr dirty="0"/>
              <a:t>	</a:t>
            </a:r>
            <a:r>
              <a:rPr dirty="0" spc="-10"/>
              <a:t>Features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023" y="3340658"/>
            <a:ext cx="4492625" cy="238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Core</a:t>
            </a:r>
            <a:r>
              <a:rPr dirty="0" sz="2200" spc="-6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Features: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management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(Add,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Edit,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View)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placement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history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Warehouse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inventory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management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Invoice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generation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payment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update</a:t>
            </a:r>
            <a:endParaRPr sz="18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602054" y="3340658"/>
            <a:ext cx="6269990" cy="2767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Arial"/>
                <a:cs typeface="Arial"/>
              </a:rPr>
              <a:t>Advanced</a:t>
            </a:r>
            <a:r>
              <a:rPr dirty="0" sz="2200" spc="-114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Features: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2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Cart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functionality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Invoice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viewing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financial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graph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Finance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Manager</a:t>
            </a:r>
            <a:endParaRPr sz="1850">
              <a:latin typeface="Arial"/>
              <a:cs typeface="Arial"/>
            </a:endParaRPr>
          </a:p>
          <a:p>
            <a:pPr marL="355600" marR="632460" indent="-342900">
              <a:lnSpc>
                <a:spcPct val="135100"/>
              </a:lnSpc>
              <a:spcBef>
                <a:spcPts val="680"/>
              </a:spcBef>
              <a:buChar char="•"/>
              <a:tabLst>
                <a:tab pos="355600" algn="l"/>
              </a:tabLst>
            </a:pP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Role-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navigation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bar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(Admin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/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/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Finance Manager)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70"/>
              </a:spcBef>
              <a:buChar char="•"/>
              <a:tabLst>
                <a:tab pos="354965" algn="l"/>
              </a:tabLst>
            </a:pP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Product-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wise</a:t>
            </a:r>
            <a:r>
              <a:rPr dirty="0" sz="1850" spc="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warehouse-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wise</a:t>
            </a:r>
            <a:r>
              <a:rPr dirty="0" sz="1850" spc="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views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089" y="624882"/>
            <a:ext cx="4737735" cy="65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5160" algn="l"/>
              </a:tabLst>
            </a:pPr>
            <a:r>
              <a:rPr dirty="0" sz="4150" spc="-10"/>
              <a:t>System</a:t>
            </a:r>
            <a:r>
              <a:rPr dirty="0" sz="4150"/>
              <a:t>	</a:t>
            </a:r>
            <a:r>
              <a:rPr dirty="0" sz="4150" spc="-10"/>
              <a:t>Architecture</a:t>
            </a:r>
            <a:endParaRPr sz="41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789" y="1734388"/>
            <a:ext cx="5724283" cy="58744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9833" y="566746"/>
            <a:ext cx="2619375" cy="596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6450" algn="l"/>
              </a:tabLst>
            </a:pPr>
            <a:r>
              <a:rPr dirty="0" sz="3750" spc="-25"/>
              <a:t>ER</a:t>
            </a:r>
            <a:r>
              <a:rPr dirty="0" sz="3750"/>
              <a:t>	</a:t>
            </a:r>
            <a:r>
              <a:rPr dirty="0" sz="3750" spc="-10"/>
              <a:t>Diagram</a:t>
            </a:r>
            <a:endParaRPr sz="37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533" y="1575435"/>
            <a:ext cx="5158854" cy="60899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1462900"/>
            <a:ext cx="871982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1880" algn="l"/>
                <a:tab pos="2807970" algn="l"/>
                <a:tab pos="6378575" algn="l"/>
              </a:tabLst>
            </a:pPr>
            <a:r>
              <a:rPr dirty="0" spc="-10"/>
              <a:t>Backend</a:t>
            </a:r>
            <a:r>
              <a:rPr dirty="0"/>
              <a:t>	</a:t>
            </a:r>
            <a:r>
              <a:rPr dirty="0" spc="-50"/>
              <a:t>–</a:t>
            </a:r>
            <a:r>
              <a:rPr dirty="0"/>
              <a:t>	</a:t>
            </a:r>
            <a:r>
              <a:rPr dirty="0" spc="-10"/>
              <a:t>Microservices</a:t>
            </a:r>
            <a:r>
              <a:rPr dirty="0"/>
              <a:t>	</a:t>
            </a:r>
            <a:r>
              <a:rPr dirty="0" spc="-10"/>
              <a:t>Overview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37723" y="2642235"/>
            <a:ext cx="12955270" cy="4128135"/>
          </a:xfrm>
          <a:custGeom>
            <a:avLst/>
            <a:gdLst/>
            <a:ahLst/>
            <a:cxnLst/>
            <a:rect l="l" t="t" r="r" b="b"/>
            <a:pathLst>
              <a:path w="12955269" h="4128134">
                <a:moveTo>
                  <a:pt x="0" y="100558"/>
                </a:moveTo>
                <a:lnTo>
                  <a:pt x="7954" y="61571"/>
                </a:lnTo>
                <a:lnTo>
                  <a:pt x="29591" y="29591"/>
                </a:lnTo>
                <a:lnTo>
                  <a:pt x="61571" y="7954"/>
                </a:lnTo>
                <a:lnTo>
                  <a:pt x="100555" y="0"/>
                </a:lnTo>
                <a:lnTo>
                  <a:pt x="12854432" y="0"/>
                </a:lnTo>
                <a:lnTo>
                  <a:pt x="12893381" y="7954"/>
                </a:lnTo>
                <a:lnTo>
                  <a:pt x="12925329" y="29591"/>
                </a:lnTo>
                <a:lnTo>
                  <a:pt x="12946943" y="61571"/>
                </a:lnTo>
                <a:lnTo>
                  <a:pt x="12954889" y="100558"/>
                </a:lnTo>
                <a:lnTo>
                  <a:pt x="12954889" y="4027335"/>
                </a:lnTo>
                <a:lnTo>
                  <a:pt x="12946943" y="4066321"/>
                </a:lnTo>
                <a:lnTo>
                  <a:pt x="12925329" y="4098302"/>
                </a:lnTo>
                <a:lnTo>
                  <a:pt x="12893381" y="4119939"/>
                </a:lnTo>
                <a:lnTo>
                  <a:pt x="12854432" y="4127893"/>
                </a:lnTo>
                <a:lnTo>
                  <a:pt x="100555" y="4127893"/>
                </a:lnTo>
                <a:lnTo>
                  <a:pt x="61571" y="4119939"/>
                </a:lnTo>
                <a:lnTo>
                  <a:pt x="29591" y="4098302"/>
                </a:lnTo>
                <a:lnTo>
                  <a:pt x="7954" y="4066321"/>
                </a:lnTo>
                <a:lnTo>
                  <a:pt x="0" y="4027335"/>
                </a:lnTo>
                <a:lnTo>
                  <a:pt x="0" y="100558"/>
                </a:lnTo>
                <a:close/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33913" y="2697925"/>
          <a:ext cx="13039090" cy="40646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4370"/>
                <a:gridCol w="9739630"/>
              </a:tblGrid>
              <a:tr h="631190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Order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Order</a:t>
                      </a:r>
                      <a:r>
                        <a:rPr dirty="0" sz="1850" spc="-2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placement</a:t>
                      </a:r>
                      <a:r>
                        <a:rPr dirty="0" sz="1850" spc="-1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850" spc="-2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lifecycle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191135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1850" spc="-4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Product</a:t>
                      </a:r>
                      <a:r>
                        <a:rPr dirty="0" sz="1850" spc="-4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Warehouse</a:t>
                      </a:r>
                      <a:r>
                        <a:rPr dirty="0" sz="1850" spc="-5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Inventory</a:t>
                      </a:r>
                      <a:r>
                        <a:rPr dirty="0" sz="1850" spc="-2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850" spc="-2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warehouse</a:t>
                      </a:r>
                      <a:r>
                        <a:rPr dirty="0" sz="1850" spc="-2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Billing</a:t>
                      </a:r>
                      <a:r>
                        <a:rPr dirty="0" sz="1850" spc="-4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Invoices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850" spc="-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payments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API</a:t>
                      </a:r>
                      <a:r>
                        <a:rPr dirty="0" sz="1850" spc="-2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Gateway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Routing</a:t>
                      </a:r>
                      <a:r>
                        <a:rPr dirty="0" sz="1850" spc="-2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850" spc="-2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692785">
                <a:tc>
                  <a:txBody>
                    <a:bodyPr/>
                    <a:lstStyle/>
                    <a:p>
                      <a:pPr marL="246379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Eureka</a:t>
                      </a:r>
                      <a:r>
                        <a:rPr dirty="0" sz="1850" spc="-35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Server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L w="9525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7575">
                        <a:lnSpc>
                          <a:spcPct val="100000"/>
                        </a:lnSpc>
                        <a:spcBef>
                          <a:spcPts val="1930"/>
                        </a:spcBef>
                      </a:pPr>
                      <a:r>
                        <a:rPr dirty="0" sz="185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Service</a:t>
                      </a:r>
                      <a:r>
                        <a:rPr dirty="0" sz="1850" spc="-4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50" spc="-10">
                          <a:solidFill>
                            <a:srgbClr val="272424"/>
                          </a:solidFill>
                          <a:latin typeface="Arial"/>
                          <a:cs typeface="Arial"/>
                        </a:rPr>
                        <a:t>discovery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45110"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3921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2635186"/>
            <a:ext cx="8033384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2840" algn="l"/>
                <a:tab pos="2868295" algn="l"/>
                <a:tab pos="5754370" algn="l"/>
              </a:tabLst>
            </a:pPr>
            <a:r>
              <a:rPr dirty="0" spc="-10"/>
              <a:t>Frontend</a:t>
            </a:r>
            <a:r>
              <a:rPr dirty="0"/>
              <a:t>	</a:t>
            </a:r>
            <a:r>
              <a:rPr dirty="0" spc="-50"/>
              <a:t>–</a:t>
            </a:r>
            <a:r>
              <a:rPr dirty="0"/>
              <a:t>	</a:t>
            </a:r>
            <a:r>
              <a:rPr dirty="0" spc="-10"/>
              <a:t>Application</a:t>
            </a:r>
            <a:r>
              <a:rPr dirty="0"/>
              <a:t>	</a:t>
            </a:r>
            <a:r>
              <a:rPr dirty="0" spc="-10"/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25023" y="3895915"/>
            <a:ext cx="4649470" cy="17075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Angular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standalone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components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Feature-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850" spc="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folder</a:t>
            </a:r>
            <a:r>
              <a:rPr dirty="0" sz="1850" spc="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structure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Services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backend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API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communication</a:t>
            </a:r>
            <a:endParaRPr sz="18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455"/>
              </a:spcBef>
              <a:buChar char="•"/>
              <a:tabLst>
                <a:tab pos="35496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Centralized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routing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Angular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Router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5863" y="505397"/>
            <a:ext cx="5720715" cy="535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/>
              <a:t>Frontend</a:t>
            </a:r>
            <a:r>
              <a:rPr dirty="0" sz="3350" spc="-30"/>
              <a:t> </a:t>
            </a:r>
            <a:r>
              <a:rPr dirty="0" sz="3350"/>
              <a:t>Routes</a:t>
            </a:r>
            <a:r>
              <a:rPr dirty="0" sz="3350" spc="-30"/>
              <a:t> </a:t>
            </a:r>
            <a:r>
              <a:rPr dirty="0" sz="3350"/>
              <a:t>&amp;</a:t>
            </a:r>
            <a:r>
              <a:rPr dirty="0" sz="3350" spc="-25"/>
              <a:t> </a:t>
            </a:r>
            <a:r>
              <a:rPr dirty="0" sz="3350" spc="-10"/>
              <a:t>Navigation</a:t>
            </a:r>
            <a:endParaRPr sz="3350"/>
          </a:p>
        </p:txBody>
      </p:sp>
      <p:grpSp>
        <p:nvGrpSpPr>
          <p:cNvPr id="3" name="object 3" descr=""/>
          <p:cNvGrpSpPr/>
          <p:nvPr/>
        </p:nvGrpSpPr>
        <p:grpSpPr>
          <a:xfrm>
            <a:off x="1864753" y="1404454"/>
            <a:ext cx="10901045" cy="5826125"/>
            <a:chOff x="1864753" y="1404454"/>
            <a:chExt cx="10901045" cy="5826125"/>
          </a:xfrm>
        </p:grpSpPr>
        <p:sp>
          <p:nvSpPr>
            <p:cNvPr id="4" name="object 4" descr=""/>
            <p:cNvSpPr/>
            <p:nvPr/>
          </p:nvSpPr>
          <p:spPr>
            <a:xfrm>
              <a:off x="1868563" y="1408264"/>
              <a:ext cx="10893425" cy="5818505"/>
            </a:xfrm>
            <a:custGeom>
              <a:avLst/>
              <a:gdLst/>
              <a:ahLst/>
              <a:cxnLst/>
              <a:rect l="l" t="t" r="r" b="b"/>
              <a:pathLst>
                <a:path w="10893425" h="5818505">
                  <a:moveTo>
                    <a:pt x="0" y="76860"/>
                  </a:moveTo>
                  <a:lnTo>
                    <a:pt x="6080" y="47063"/>
                  </a:lnTo>
                  <a:lnTo>
                    <a:pt x="22618" y="22618"/>
                  </a:lnTo>
                  <a:lnTo>
                    <a:pt x="47063" y="6080"/>
                  </a:lnTo>
                  <a:lnTo>
                    <a:pt x="76861" y="0"/>
                  </a:lnTo>
                  <a:lnTo>
                    <a:pt x="10816399" y="0"/>
                  </a:lnTo>
                  <a:lnTo>
                    <a:pt x="10846198" y="6080"/>
                  </a:lnTo>
                  <a:lnTo>
                    <a:pt x="10870647" y="22618"/>
                  </a:lnTo>
                  <a:lnTo>
                    <a:pt x="10887190" y="47063"/>
                  </a:lnTo>
                  <a:lnTo>
                    <a:pt x="10893272" y="76860"/>
                  </a:lnTo>
                  <a:lnTo>
                    <a:pt x="10893272" y="5741606"/>
                  </a:lnTo>
                  <a:lnTo>
                    <a:pt x="10887190" y="5771403"/>
                  </a:lnTo>
                  <a:lnTo>
                    <a:pt x="10870647" y="5795848"/>
                  </a:lnTo>
                  <a:lnTo>
                    <a:pt x="10846198" y="5812386"/>
                  </a:lnTo>
                  <a:lnTo>
                    <a:pt x="10816399" y="5818466"/>
                  </a:lnTo>
                  <a:lnTo>
                    <a:pt x="76861" y="5818466"/>
                  </a:lnTo>
                  <a:lnTo>
                    <a:pt x="47063" y="5812386"/>
                  </a:lnTo>
                  <a:lnTo>
                    <a:pt x="22618" y="5795848"/>
                  </a:lnTo>
                  <a:lnTo>
                    <a:pt x="6080" y="5771403"/>
                  </a:lnTo>
                  <a:lnTo>
                    <a:pt x="0" y="5741606"/>
                  </a:lnTo>
                  <a:lnTo>
                    <a:pt x="0" y="76860"/>
                  </a:lnTo>
                  <a:close/>
                </a:path>
              </a:pathLst>
            </a:custGeom>
            <a:ln w="761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876183" y="1415884"/>
              <a:ext cx="10878185" cy="527685"/>
            </a:xfrm>
            <a:custGeom>
              <a:avLst/>
              <a:gdLst/>
              <a:ahLst/>
              <a:cxnLst/>
              <a:rect l="l" t="t" r="r" b="b"/>
              <a:pathLst>
                <a:path w="10878185" h="527685">
                  <a:moveTo>
                    <a:pt x="10878032" y="0"/>
                  </a:moveTo>
                  <a:lnTo>
                    <a:pt x="0" y="0"/>
                  </a:lnTo>
                  <a:lnTo>
                    <a:pt x="0" y="527570"/>
                  </a:lnTo>
                  <a:lnTo>
                    <a:pt x="10878032" y="527570"/>
                  </a:lnTo>
                  <a:lnTo>
                    <a:pt x="10878032" y="0"/>
                  </a:lnTo>
                  <a:close/>
                </a:path>
              </a:pathLst>
            </a:custGeom>
            <a:solidFill>
              <a:srgbClr val="FFFFFF">
                <a:alpha val="392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2046490" y="1595564"/>
            <a:ext cx="45961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/register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User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 registration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876183" y="1943455"/>
            <a:ext cx="10878185" cy="527685"/>
          </a:xfrm>
          <a:prstGeom prst="rect">
            <a:avLst/>
          </a:prstGeom>
          <a:solidFill>
            <a:srgbClr val="000000">
              <a:alpha val="3921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515"/>
              </a:spcBef>
              <a:tabLst>
                <a:tab pos="3449954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/login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User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login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876183" y="2471026"/>
            <a:ext cx="10878185" cy="527685"/>
          </a:xfrm>
          <a:custGeom>
            <a:avLst/>
            <a:gdLst/>
            <a:ahLst/>
            <a:cxnLst/>
            <a:rect l="l" t="t" r="r" b="b"/>
            <a:pathLst>
              <a:path w="10878185" h="527685">
                <a:moveTo>
                  <a:pt x="10878032" y="0"/>
                </a:moveTo>
                <a:lnTo>
                  <a:pt x="0" y="0"/>
                </a:lnTo>
                <a:lnTo>
                  <a:pt x="0" y="527570"/>
                </a:lnTo>
                <a:lnTo>
                  <a:pt x="10878032" y="527570"/>
                </a:lnTo>
                <a:lnTo>
                  <a:pt x="10878032" y="0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2046490" y="2650706"/>
            <a:ext cx="44081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/products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Product</a:t>
            </a:r>
            <a:r>
              <a:rPr dirty="0" sz="14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listing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76183" y="2998584"/>
            <a:ext cx="10878185" cy="527685"/>
          </a:xfrm>
          <a:prstGeom prst="rect">
            <a:avLst/>
          </a:prstGeom>
          <a:solidFill>
            <a:srgbClr val="000000">
              <a:alpha val="3921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515"/>
              </a:spcBef>
              <a:tabLst>
                <a:tab pos="3449954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/cart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Cart</a:t>
            </a:r>
            <a:r>
              <a:rPr dirty="0" sz="14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management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876183" y="3526154"/>
            <a:ext cx="10878185" cy="527685"/>
          </a:xfrm>
          <a:custGeom>
            <a:avLst/>
            <a:gdLst/>
            <a:ahLst/>
            <a:cxnLst/>
            <a:rect l="l" t="t" r="r" b="b"/>
            <a:pathLst>
              <a:path w="10878185" h="527685">
                <a:moveTo>
                  <a:pt x="10878032" y="0"/>
                </a:moveTo>
                <a:lnTo>
                  <a:pt x="0" y="0"/>
                </a:lnTo>
                <a:lnTo>
                  <a:pt x="0" y="527570"/>
                </a:lnTo>
                <a:lnTo>
                  <a:pt x="10878032" y="527570"/>
                </a:lnTo>
                <a:lnTo>
                  <a:pt x="10878032" y="0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046490" y="3705834"/>
            <a:ext cx="42017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/order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Place</a:t>
            </a:r>
            <a:r>
              <a:rPr dirty="0" sz="14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76183" y="4053725"/>
            <a:ext cx="10878185" cy="527685"/>
          </a:xfrm>
          <a:prstGeom prst="rect">
            <a:avLst/>
          </a:prstGeom>
          <a:solidFill>
            <a:srgbClr val="000000">
              <a:alpha val="3921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515"/>
              </a:spcBef>
              <a:tabLst>
                <a:tab pos="3449954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/vieworders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View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 history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876183" y="4581283"/>
            <a:ext cx="10878185" cy="527685"/>
          </a:xfrm>
          <a:custGeom>
            <a:avLst/>
            <a:gdLst/>
            <a:ahLst/>
            <a:cxnLst/>
            <a:rect l="l" t="t" r="r" b="b"/>
            <a:pathLst>
              <a:path w="10878185" h="527685">
                <a:moveTo>
                  <a:pt x="10878032" y="0"/>
                </a:moveTo>
                <a:lnTo>
                  <a:pt x="0" y="0"/>
                </a:lnTo>
                <a:lnTo>
                  <a:pt x="0" y="527570"/>
                </a:lnTo>
                <a:lnTo>
                  <a:pt x="10878032" y="527570"/>
                </a:lnTo>
                <a:lnTo>
                  <a:pt x="10878032" y="0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046490" y="4760963"/>
            <a:ext cx="4686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/warehouses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View</a:t>
            </a:r>
            <a:r>
              <a:rPr dirty="0" sz="14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warehouses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876183" y="5108854"/>
            <a:ext cx="10878185" cy="527685"/>
          </a:xfrm>
          <a:prstGeom prst="rect">
            <a:avLst/>
          </a:prstGeom>
          <a:solidFill>
            <a:srgbClr val="000000">
              <a:alpha val="3921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515"/>
              </a:spcBef>
              <a:tabLst>
                <a:tab pos="3449954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/warehouses/:code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Warehouse</a:t>
            </a:r>
            <a:r>
              <a:rPr dirty="0" sz="14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4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272424"/>
                </a:solidFill>
                <a:latin typeface="Arial"/>
                <a:cs typeface="Arial"/>
              </a:rPr>
              <a:t>view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876183" y="5636424"/>
            <a:ext cx="10878185" cy="527685"/>
          </a:xfrm>
          <a:custGeom>
            <a:avLst/>
            <a:gdLst/>
            <a:ahLst/>
            <a:cxnLst/>
            <a:rect l="l" t="t" r="r" b="b"/>
            <a:pathLst>
              <a:path w="10878185" h="527685">
                <a:moveTo>
                  <a:pt x="10878032" y="0"/>
                </a:moveTo>
                <a:lnTo>
                  <a:pt x="0" y="0"/>
                </a:lnTo>
                <a:lnTo>
                  <a:pt x="0" y="527570"/>
                </a:lnTo>
                <a:lnTo>
                  <a:pt x="10878032" y="527570"/>
                </a:lnTo>
                <a:lnTo>
                  <a:pt x="10878032" y="0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046490" y="5816092"/>
            <a:ext cx="47739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797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/productstock/:id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Product</a:t>
            </a:r>
            <a:r>
              <a:rPr dirty="0" sz="14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400" spc="-20">
                <a:solidFill>
                  <a:srgbClr val="272424"/>
                </a:solidFill>
                <a:latin typeface="Arial"/>
                <a:cs typeface="Arial"/>
              </a:rPr>
              <a:t> view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876183" y="6163983"/>
            <a:ext cx="10878185" cy="527685"/>
          </a:xfrm>
          <a:prstGeom prst="rect">
            <a:avLst/>
          </a:prstGeom>
          <a:solidFill>
            <a:srgbClr val="000000">
              <a:alpha val="3921"/>
            </a:srgbClr>
          </a:solidFill>
        </p:spPr>
        <p:txBody>
          <a:bodyPr wrap="square" lIns="0" tIns="192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515"/>
              </a:spcBef>
              <a:tabLst>
                <a:tab pos="3449954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/invoice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View</a:t>
            </a:r>
            <a:r>
              <a:rPr dirty="0" sz="14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invoices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876183" y="6691553"/>
            <a:ext cx="10878185" cy="527685"/>
          </a:xfrm>
          <a:custGeom>
            <a:avLst/>
            <a:gdLst/>
            <a:ahLst/>
            <a:cxnLst/>
            <a:rect l="l" t="t" r="r" b="b"/>
            <a:pathLst>
              <a:path w="10878185" h="527684">
                <a:moveTo>
                  <a:pt x="10878032" y="0"/>
                </a:moveTo>
                <a:lnTo>
                  <a:pt x="0" y="0"/>
                </a:lnTo>
                <a:lnTo>
                  <a:pt x="0" y="527570"/>
                </a:lnTo>
                <a:lnTo>
                  <a:pt x="10878032" y="527570"/>
                </a:lnTo>
                <a:lnTo>
                  <a:pt x="10878032" y="0"/>
                </a:lnTo>
                <a:close/>
              </a:path>
            </a:pathLst>
          </a:custGeom>
          <a:solidFill>
            <a:srgbClr val="FFFFFF">
              <a:alpha val="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1855863" y="6871220"/>
            <a:ext cx="5389245" cy="86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  <a:tabLst>
                <a:tab pos="3470275" algn="l"/>
              </a:tabLst>
            </a:pP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/updatepayment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	Update</a:t>
            </a:r>
            <a:r>
              <a:rPr dirty="0" sz="14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invoice</a:t>
            </a:r>
            <a:r>
              <a:rPr dirty="0" sz="14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payment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Navigation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bar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changes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dynamically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logged-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72424"/>
                </a:solidFill>
                <a:latin typeface="Arial"/>
                <a:cs typeface="Arial"/>
              </a:rPr>
              <a:t>user </a:t>
            </a:r>
            <a:r>
              <a:rPr dirty="0" sz="1400" spc="-10">
                <a:solidFill>
                  <a:srgbClr val="272424"/>
                </a:solidFill>
                <a:latin typeface="Arial"/>
                <a:cs typeface="Arial"/>
              </a:rPr>
              <a:t>role.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756617"/>
            <a:ext cx="797369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2840" algn="l"/>
                <a:tab pos="3023870" algn="l"/>
                <a:tab pos="5353050" algn="l"/>
              </a:tabLst>
            </a:pPr>
            <a:r>
              <a:rPr dirty="0" spc="-10"/>
              <a:t>Frontend</a:t>
            </a:r>
            <a:r>
              <a:rPr dirty="0"/>
              <a:t>	</a:t>
            </a:r>
            <a:r>
              <a:rPr dirty="0" spc="-25"/>
              <a:t>to</a:t>
            </a:r>
            <a:r>
              <a:rPr dirty="0"/>
              <a:t>	</a:t>
            </a:r>
            <a:r>
              <a:rPr dirty="0" spc="-10"/>
              <a:t>Backend</a:t>
            </a:r>
            <a:r>
              <a:rPr dirty="0"/>
              <a:t>	</a:t>
            </a:r>
            <a:r>
              <a:rPr dirty="0" spc="-10"/>
              <a:t>Interaction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063" y="1935949"/>
            <a:ext cx="12848209" cy="5540451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42871" y="6426758"/>
            <a:ext cx="95186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dirty="0" sz="12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Gateway</a:t>
            </a:r>
            <a:endParaRPr sz="12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42871" y="5144236"/>
            <a:ext cx="114617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Angular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42871" y="3874668"/>
            <a:ext cx="143637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Angular</a:t>
            </a:r>
            <a:r>
              <a:rPr dirty="0" sz="12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42871" y="2592133"/>
            <a:ext cx="845819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FFFFFF"/>
                </a:solidFill>
                <a:latin typeface="Arial"/>
                <a:cs typeface="Arial"/>
              </a:rPr>
              <a:t>User </a:t>
            </a:r>
            <a:r>
              <a:rPr dirty="0" sz="1250" spc="-10">
                <a:solidFill>
                  <a:srgbClr val="FFFFFF"/>
                </a:solidFill>
                <a:latin typeface="Arial"/>
                <a:cs typeface="Arial"/>
              </a:rPr>
              <a:t>Action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264" y="727105"/>
            <a:ext cx="4803775" cy="5892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4295" algn="l"/>
                <a:tab pos="3798570" algn="l"/>
              </a:tabLst>
            </a:pPr>
            <a:r>
              <a:rPr dirty="0" sz="3700" spc="-10"/>
              <a:t>Order</a:t>
            </a:r>
            <a:r>
              <a:rPr dirty="0" sz="3700"/>
              <a:t>	</a:t>
            </a:r>
            <a:r>
              <a:rPr dirty="0" sz="3700" spc="-10"/>
              <a:t>Processing</a:t>
            </a:r>
            <a:r>
              <a:rPr dirty="0" sz="3700"/>
              <a:t>	</a:t>
            </a:r>
            <a:r>
              <a:rPr dirty="0" sz="3700" spc="-20"/>
              <a:t>Flow</a:t>
            </a:r>
            <a:endParaRPr sz="3700"/>
          </a:p>
        </p:txBody>
      </p:sp>
      <p:sp>
        <p:nvSpPr>
          <p:cNvPr id="3" name="object 3" descr=""/>
          <p:cNvSpPr txBox="1"/>
          <p:nvPr/>
        </p:nvSpPr>
        <p:spPr>
          <a:xfrm>
            <a:off x="1281264" y="1653433"/>
            <a:ext cx="12068175" cy="83693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5932170" algn="l"/>
                <a:tab pos="6134735" algn="l"/>
                <a:tab pos="12054840" algn="l"/>
              </a:tabLst>
            </a:pP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01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02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613473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Adds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Cart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	Places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endParaRPr sz="18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81264" y="2592032"/>
            <a:ext cx="565785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customer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initiates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process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adding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desired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products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to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their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shopping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cart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within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Angular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frontend.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403579" y="2592032"/>
            <a:ext cx="5647055" cy="977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Upon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reviewing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cart,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customer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proceeds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checkout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and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places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order,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sending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request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backend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via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API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Gateway.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81264" y="3864564"/>
            <a:ext cx="12068175" cy="83693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5932170" algn="l"/>
                <a:tab pos="6134735" algn="l"/>
                <a:tab pos="12054840" algn="l"/>
              </a:tabLst>
            </a:pP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03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04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613473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Service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Validates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	Inventory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Checked</a:t>
            </a:r>
            <a:endParaRPr sz="18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81264" y="4803140"/>
            <a:ext cx="565467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Service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receives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request,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validates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product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details,</a:t>
            </a:r>
            <a:r>
              <a:rPr dirty="0" sz="155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confirms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existence</a:t>
            </a:r>
            <a:r>
              <a:rPr dirty="0" sz="1550" spc="-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Product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Service.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03579" y="4803140"/>
            <a:ext cx="589851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Service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then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communicates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Warehouse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Service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check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current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inventory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ordered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products.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81264" y="5752064"/>
            <a:ext cx="12068175" cy="83693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  <a:tabLst>
                <a:tab pos="5932170" algn="l"/>
                <a:tab pos="6134735" algn="l"/>
                <a:tab pos="12054840" algn="l"/>
              </a:tabLst>
            </a:pP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05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	</a:t>
            </a:r>
            <a:r>
              <a:rPr dirty="0" u="heavy" sz="1550" spc="-25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06</a:t>
            </a:r>
            <a:r>
              <a:rPr dirty="0" u="heavy" sz="1550">
                <a:solidFill>
                  <a:srgbClr val="272424"/>
                </a:solidFill>
                <a:uFill>
                  <a:solidFill>
                    <a:srgbClr val="BD48DF"/>
                  </a:solidFill>
                </a:uFill>
                <a:latin typeface="Arial"/>
                <a:cs typeface="Arial"/>
              </a:rPr>
              <a:t>	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5"/>
              </a:spcBef>
              <a:tabLst>
                <a:tab pos="6134735" algn="l"/>
              </a:tabLst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Invoice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Generated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	Order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Confirmation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Displayed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81264" y="6690639"/>
            <a:ext cx="5286375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Once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confirmed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is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finalized,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Billing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Service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generates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invoice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transaction.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403579" y="6690639"/>
            <a:ext cx="5372100" cy="660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Finally,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system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displays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5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confirmation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user, summarizing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their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purchase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5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272424"/>
                </a:solidFill>
                <a:latin typeface="Arial"/>
                <a:cs typeface="Arial"/>
              </a:rPr>
              <a:t>next</a:t>
            </a:r>
            <a:r>
              <a:rPr dirty="0" sz="15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272424"/>
                </a:solidFill>
                <a:latin typeface="Arial"/>
                <a:cs typeface="Arial"/>
              </a:rPr>
              <a:t>steps.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1099399"/>
            <a:ext cx="707009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64435" algn="l"/>
                <a:tab pos="5876925" algn="l"/>
              </a:tabLst>
            </a:pPr>
            <a:r>
              <a:rPr dirty="0" spc="-10"/>
              <a:t>Inventory</a:t>
            </a:r>
            <a:r>
              <a:rPr dirty="0"/>
              <a:t>	</a:t>
            </a:r>
            <a:r>
              <a:rPr dirty="0" spc="-10"/>
              <a:t>Management</a:t>
            </a:r>
            <a:r>
              <a:rPr dirty="0"/>
              <a:t>	</a:t>
            </a:r>
            <a:r>
              <a:rPr dirty="0" spc="-20"/>
              <a:t>Flow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496" y="2286177"/>
            <a:ext cx="358973" cy="358978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602854" y="2274099"/>
            <a:ext cx="5377815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2200" spc="-8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Maintained</a:t>
            </a:r>
            <a:r>
              <a:rPr dirty="0" sz="2200" spc="-7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per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Warehouse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35100"/>
              </a:lnSpc>
              <a:spcBef>
                <a:spcPts val="116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warehouse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independently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tracks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inventory,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providing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granular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control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accurate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levels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specific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locations.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4518" y="2286177"/>
            <a:ext cx="358973" cy="358978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8229879" y="2274099"/>
            <a:ext cx="5507990" cy="4859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5605">
              <a:lnSpc>
                <a:spcPts val="2750"/>
              </a:lnSpc>
              <a:spcBef>
                <a:spcPts val="100"/>
              </a:spcBef>
            </a:pPr>
            <a:r>
              <a:rPr dirty="0" sz="2200" spc="-20">
                <a:solidFill>
                  <a:srgbClr val="272424"/>
                </a:solidFill>
                <a:latin typeface="Arial"/>
                <a:cs typeface="Arial"/>
              </a:rPr>
              <a:t>Product-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wise</a:t>
            </a:r>
            <a:r>
              <a:rPr dirty="0" sz="22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22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272424"/>
                </a:solidFill>
                <a:latin typeface="Arial"/>
                <a:cs typeface="Arial"/>
              </a:rPr>
              <a:t>Warehouse-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wise</a:t>
            </a:r>
            <a:r>
              <a:rPr dirty="0" sz="22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Stock Visibility</a:t>
            </a:r>
            <a:endParaRPr sz="2200">
              <a:latin typeface="Arial"/>
              <a:cs typeface="Arial"/>
            </a:endParaRPr>
          </a:p>
          <a:p>
            <a:pPr marL="12700" marR="226695">
              <a:lnSpc>
                <a:spcPct val="135100"/>
              </a:lnSpc>
              <a:spcBef>
                <a:spcPts val="107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Users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can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view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real-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time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levels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broken</a:t>
            </a:r>
            <a:r>
              <a:rPr dirty="0" sz="1850" spc="-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down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by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individual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products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across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warehouses,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or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aggregated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within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specific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warehouse.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89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Low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Events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Handled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Asynchronously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Critical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low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notifications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are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processed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the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background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using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message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queues,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triggering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alerts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reorder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processes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efficiently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without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delaying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user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operations.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496" y="4761484"/>
            <a:ext cx="358973" cy="358978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602854" y="4749406"/>
            <a:ext cx="5323205" cy="200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3050">
              <a:lnSpc>
                <a:spcPts val="2750"/>
              </a:lnSpc>
              <a:spcBef>
                <a:spcPts val="100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Automatically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Updated</a:t>
            </a:r>
            <a:r>
              <a:rPr dirty="0" sz="2200" spc="-7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After</a:t>
            </a:r>
            <a:r>
              <a:rPr dirty="0" sz="2200" spc="-6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Order Placement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107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Upon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successful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order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confirmation,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system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automatically</a:t>
            </a:r>
            <a:r>
              <a:rPr dirty="0" sz="18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adjusts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inventory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levels,</a:t>
            </a:r>
            <a:r>
              <a:rPr dirty="0" sz="185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ensuring</a:t>
            </a:r>
            <a:r>
              <a:rPr dirty="0" sz="1850" spc="-4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up-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to-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date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stock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counts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without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manual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intervention.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4518" y="4761484"/>
            <a:ext cx="358973" cy="358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1031415"/>
            <a:ext cx="759840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83765" algn="l"/>
                <a:tab pos="2712085" algn="l"/>
                <a:tab pos="5783580" algn="l"/>
              </a:tabLst>
            </a:pPr>
            <a:r>
              <a:rPr dirty="0" spc="-10"/>
              <a:t>Security</a:t>
            </a:r>
            <a:r>
              <a:rPr dirty="0"/>
              <a:t>	</a:t>
            </a:r>
            <a:r>
              <a:rPr dirty="0" spc="-50"/>
              <a:t>&amp;</a:t>
            </a:r>
            <a:r>
              <a:rPr dirty="0"/>
              <a:t>	</a:t>
            </a:r>
            <a:r>
              <a:rPr dirty="0" spc="-10"/>
              <a:t>Role-Based</a:t>
            </a:r>
            <a:r>
              <a:rPr dirty="0"/>
              <a:t>	</a:t>
            </a:r>
            <a:r>
              <a:rPr dirty="0" spc="-10"/>
              <a:t>Access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07243" y="2195512"/>
            <a:ext cx="6403975" cy="2214880"/>
            <a:chOff x="807243" y="2195512"/>
            <a:chExt cx="6403975" cy="2214880"/>
          </a:xfrm>
        </p:grpSpPr>
        <p:sp>
          <p:nvSpPr>
            <p:cNvPr id="4" name="object 4" descr=""/>
            <p:cNvSpPr/>
            <p:nvPr/>
          </p:nvSpPr>
          <p:spPr>
            <a:xfrm>
              <a:off x="837723" y="2210752"/>
              <a:ext cx="6358255" cy="2184400"/>
            </a:xfrm>
            <a:custGeom>
              <a:avLst/>
              <a:gdLst/>
              <a:ahLst/>
              <a:cxnLst/>
              <a:rect l="l" t="t" r="r" b="b"/>
              <a:pathLst>
                <a:path w="6358255" h="2184400">
                  <a:moveTo>
                    <a:pt x="0" y="146291"/>
                  </a:moveTo>
                  <a:lnTo>
                    <a:pt x="7510" y="100260"/>
                  </a:lnTo>
                  <a:lnTo>
                    <a:pt x="28382" y="60128"/>
                  </a:lnTo>
                  <a:lnTo>
                    <a:pt x="60129" y="28382"/>
                  </a:lnTo>
                  <a:lnTo>
                    <a:pt x="100264" y="7510"/>
                  </a:lnTo>
                  <a:lnTo>
                    <a:pt x="146297" y="0"/>
                  </a:lnTo>
                  <a:lnTo>
                    <a:pt x="6211519" y="0"/>
                  </a:lnTo>
                  <a:lnTo>
                    <a:pt x="6257551" y="7510"/>
                  </a:lnTo>
                  <a:lnTo>
                    <a:pt x="6297686" y="28382"/>
                  </a:lnTo>
                  <a:lnTo>
                    <a:pt x="6329436" y="60128"/>
                  </a:lnTo>
                  <a:lnTo>
                    <a:pt x="6350311" y="100260"/>
                  </a:lnTo>
                  <a:lnTo>
                    <a:pt x="6357823" y="146291"/>
                  </a:lnTo>
                  <a:lnTo>
                    <a:pt x="6357823" y="2037905"/>
                  </a:lnTo>
                  <a:lnTo>
                    <a:pt x="6350311" y="2083936"/>
                  </a:lnTo>
                  <a:lnTo>
                    <a:pt x="6329436" y="2124068"/>
                  </a:lnTo>
                  <a:lnTo>
                    <a:pt x="6297686" y="2155814"/>
                  </a:lnTo>
                  <a:lnTo>
                    <a:pt x="6257551" y="2176686"/>
                  </a:lnTo>
                  <a:lnTo>
                    <a:pt x="6211519" y="2184196"/>
                  </a:lnTo>
                  <a:lnTo>
                    <a:pt x="146297" y="2184196"/>
                  </a:lnTo>
                  <a:lnTo>
                    <a:pt x="100264" y="2176686"/>
                  </a:lnTo>
                  <a:lnTo>
                    <a:pt x="60129" y="2155814"/>
                  </a:lnTo>
                  <a:lnTo>
                    <a:pt x="28382" y="2124068"/>
                  </a:lnTo>
                  <a:lnTo>
                    <a:pt x="7510" y="2083936"/>
                  </a:lnTo>
                  <a:lnTo>
                    <a:pt x="0" y="2037905"/>
                  </a:lnTo>
                  <a:lnTo>
                    <a:pt x="0" y="146291"/>
                  </a:lnTo>
                  <a:close/>
                </a:path>
              </a:pathLst>
            </a:custGeom>
            <a:ln w="30479">
              <a:solidFill>
                <a:srgbClr val="D5B9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07243" y="2210752"/>
              <a:ext cx="121920" cy="2184400"/>
            </a:xfrm>
            <a:custGeom>
              <a:avLst/>
              <a:gdLst/>
              <a:ahLst/>
              <a:cxnLst/>
              <a:rect l="l" t="t" r="r" b="b"/>
              <a:pathLst>
                <a:path w="121919" h="2184400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123236"/>
                  </a:lnTo>
                  <a:lnTo>
                    <a:pt x="4822" y="2146874"/>
                  </a:lnTo>
                  <a:lnTo>
                    <a:pt x="17939" y="2166261"/>
                  </a:lnTo>
                  <a:lnTo>
                    <a:pt x="37326" y="2179375"/>
                  </a:lnTo>
                  <a:lnTo>
                    <a:pt x="60959" y="2184196"/>
                  </a:lnTo>
                  <a:lnTo>
                    <a:pt x="84592" y="2179375"/>
                  </a:lnTo>
                  <a:lnTo>
                    <a:pt x="103980" y="2166261"/>
                  </a:lnTo>
                  <a:lnTo>
                    <a:pt x="117097" y="2146874"/>
                  </a:lnTo>
                  <a:lnTo>
                    <a:pt x="121919" y="2123236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86258" y="2475915"/>
            <a:ext cx="5638165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JWT</a:t>
            </a:r>
            <a:r>
              <a:rPr dirty="0" sz="22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Authentication</a:t>
            </a:r>
            <a:endParaRPr sz="2200">
              <a:latin typeface="Arial"/>
              <a:cs typeface="Arial"/>
            </a:endParaRPr>
          </a:p>
          <a:p>
            <a:pPr algn="just" marL="12700" marR="5080">
              <a:lnSpc>
                <a:spcPct val="135100"/>
              </a:lnSpc>
              <a:spcBef>
                <a:spcPts val="116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Securely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verify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identity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session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validity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using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JSON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Web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Tokens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for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API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requests,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ensuring</a:t>
            </a:r>
            <a:r>
              <a:rPr dirty="0" sz="185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trust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integrity.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04379" y="2195512"/>
            <a:ext cx="6403975" cy="2214880"/>
            <a:chOff x="7404379" y="2195512"/>
            <a:chExt cx="6403975" cy="2214880"/>
          </a:xfrm>
        </p:grpSpPr>
        <p:sp>
          <p:nvSpPr>
            <p:cNvPr id="8" name="object 8" descr=""/>
            <p:cNvSpPr/>
            <p:nvPr/>
          </p:nvSpPr>
          <p:spPr>
            <a:xfrm>
              <a:off x="7434859" y="2210752"/>
              <a:ext cx="6358255" cy="2184400"/>
            </a:xfrm>
            <a:custGeom>
              <a:avLst/>
              <a:gdLst/>
              <a:ahLst/>
              <a:cxnLst/>
              <a:rect l="l" t="t" r="r" b="b"/>
              <a:pathLst>
                <a:path w="6358255" h="2184400">
                  <a:moveTo>
                    <a:pt x="0" y="146291"/>
                  </a:moveTo>
                  <a:lnTo>
                    <a:pt x="7510" y="100260"/>
                  </a:lnTo>
                  <a:lnTo>
                    <a:pt x="28382" y="60128"/>
                  </a:lnTo>
                  <a:lnTo>
                    <a:pt x="60129" y="28382"/>
                  </a:lnTo>
                  <a:lnTo>
                    <a:pt x="100264" y="7510"/>
                  </a:lnTo>
                  <a:lnTo>
                    <a:pt x="146297" y="0"/>
                  </a:lnTo>
                  <a:lnTo>
                    <a:pt x="6211519" y="0"/>
                  </a:lnTo>
                  <a:lnTo>
                    <a:pt x="6257551" y="7510"/>
                  </a:lnTo>
                  <a:lnTo>
                    <a:pt x="6297686" y="28382"/>
                  </a:lnTo>
                  <a:lnTo>
                    <a:pt x="6329436" y="60128"/>
                  </a:lnTo>
                  <a:lnTo>
                    <a:pt x="6350311" y="100260"/>
                  </a:lnTo>
                  <a:lnTo>
                    <a:pt x="6357823" y="146291"/>
                  </a:lnTo>
                  <a:lnTo>
                    <a:pt x="6357823" y="2037905"/>
                  </a:lnTo>
                  <a:lnTo>
                    <a:pt x="6350311" y="2083936"/>
                  </a:lnTo>
                  <a:lnTo>
                    <a:pt x="6329436" y="2124068"/>
                  </a:lnTo>
                  <a:lnTo>
                    <a:pt x="6297686" y="2155814"/>
                  </a:lnTo>
                  <a:lnTo>
                    <a:pt x="6257551" y="2176686"/>
                  </a:lnTo>
                  <a:lnTo>
                    <a:pt x="6211519" y="2184196"/>
                  </a:lnTo>
                  <a:lnTo>
                    <a:pt x="146297" y="2184196"/>
                  </a:lnTo>
                  <a:lnTo>
                    <a:pt x="100264" y="2176686"/>
                  </a:lnTo>
                  <a:lnTo>
                    <a:pt x="60129" y="2155814"/>
                  </a:lnTo>
                  <a:lnTo>
                    <a:pt x="28382" y="2124068"/>
                  </a:lnTo>
                  <a:lnTo>
                    <a:pt x="7510" y="2083936"/>
                  </a:lnTo>
                  <a:lnTo>
                    <a:pt x="0" y="2037905"/>
                  </a:lnTo>
                  <a:lnTo>
                    <a:pt x="0" y="146291"/>
                  </a:lnTo>
                  <a:close/>
                </a:path>
              </a:pathLst>
            </a:custGeom>
            <a:ln w="30479">
              <a:solidFill>
                <a:srgbClr val="D5B9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404379" y="2210752"/>
              <a:ext cx="121920" cy="2184400"/>
            </a:xfrm>
            <a:custGeom>
              <a:avLst/>
              <a:gdLst/>
              <a:ahLst/>
              <a:cxnLst/>
              <a:rect l="l" t="t" r="r" b="b"/>
              <a:pathLst>
                <a:path w="121920" h="2184400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123236"/>
                  </a:lnTo>
                  <a:lnTo>
                    <a:pt x="4822" y="2146874"/>
                  </a:lnTo>
                  <a:lnTo>
                    <a:pt x="17939" y="2166261"/>
                  </a:lnTo>
                  <a:lnTo>
                    <a:pt x="37326" y="2179375"/>
                  </a:lnTo>
                  <a:lnTo>
                    <a:pt x="60959" y="2184196"/>
                  </a:lnTo>
                  <a:lnTo>
                    <a:pt x="84592" y="2179375"/>
                  </a:lnTo>
                  <a:lnTo>
                    <a:pt x="103980" y="2166261"/>
                  </a:lnTo>
                  <a:lnTo>
                    <a:pt x="117097" y="2146874"/>
                  </a:lnTo>
                  <a:lnTo>
                    <a:pt x="121919" y="2123236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807243" y="4619028"/>
            <a:ext cx="6403975" cy="2597785"/>
            <a:chOff x="807243" y="4619028"/>
            <a:chExt cx="6403975" cy="2597785"/>
          </a:xfrm>
        </p:grpSpPr>
        <p:sp>
          <p:nvSpPr>
            <p:cNvPr id="11" name="object 11" descr=""/>
            <p:cNvSpPr/>
            <p:nvPr/>
          </p:nvSpPr>
          <p:spPr>
            <a:xfrm>
              <a:off x="837723" y="4634268"/>
              <a:ext cx="6358255" cy="2567305"/>
            </a:xfrm>
            <a:custGeom>
              <a:avLst/>
              <a:gdLst/>
              <a:ahLst/>
              <a:cxnLst/>
              <a:rect l="l" t="t" r="r" b="b"/>
              <a:pathLst>
                <a:path w="6358255" h="2567304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211506" y="0"/>
                  </a:lnTo>
                  <a:lnTo>
                    <a:pt x="6257544" y="7510"/>
                  </a:lnTo>
                  <a:lnTo>
                    <a:pt x="6297684" y="28382"/>
                  </a:lnTo>
                  <a:lnTo>
                    <a:pt x="6329435" y="60130"/>
                  </a:lnTo>
                  <a:lnTo>
                    <a:pt x="6350311" y="100267"/>
                  </a:lnTo>
                  <a:lnTo>
                    <a:pt x="6357823" y="146303"/>
                  </a:lnTo>
                  <a:lnTo>
                    <a:pt x="6357823" y="2420924"/>
                  </a:lnTo>
                  <a:lnTo>
                    <a:pt x="6350311" y="2466956"/>
                  </a:lnTo>
                  <a:lnTo>
                    <a:pt x="6329435" y="2507092"/>
                  </a:lnTo>
                  <a:lnTo>
                    <a:pt x="6297684" y="2538842"/>
                  </a:lnTo>
                  <a:lnTo>
                    <a:pt x="6257544" y="2559717"/>
                  </a:lnTo>
                  <a:lnTo>
                    <a:pt x="6211506" y="2567228"/>
                  </a:lnTo>
                  <a:lnTo>
                    <a:pt x="146306" y="2567228"/>
                  </a:lnTo>
                  <a:lnTo>
                    <a:pt x="100270" y="2559717"/>
                  </a:lnTo>
                  <a:lnTo>
                    <a:pt x="60133" y="2538842"/>
                  </a:lnTo>
                  <a:lnTo>
                    <a:pt x="28384" y="2507092"/>
                  </a:lnTo>
                  <a:lnTo>
                    <a:pt x="7510" y="2466956"/>
                  </a:lnTo>
                  <a:lnTo>
                    <a:pt x="0" y="242092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D5B9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7243" y="4634268"/>
              <a:ext cx="121920" cy="2567305"/>
            </a:xfrm>
            <a:custGeom>
              <a:avLst/>
              <a:gdLst/>
              <a:ahLst/>
              <a:cxnLst/>
              <a:rect l="l" t="t" r="r" b="b"/>
              <a:pathLst>
                <a:path w="121919" h="2567304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506268"/>
                  </a:lnTo>
                  <a:lnTo>
                    <a:pt x="4822" y="2529900"/>
                  </a:lnTo>
                  <a:lnTo>
                    <a:pt x="17939" y="2549288"/>
                  </a:lnTo>
                  <a:lnTo>
                    <a:pt x="37326" y="2562406"/>
                  </a:lnTo>
                  <a:lnTo>
                    <a:pt x="60959" y="2567228"/>
                  </a:lnTo>
                  <a:lnTo>
                    <a:pt x="84592" y="2562406"/>
                  </a:lnTo>
                  <a:lnTo>
                    <a:pt x="103980" y="2549288"/>
                  </a:lnTo>
                  <a:lnTo>
                    <a:pt x="117097" y="2529900"/>
                  </a:lnTo>
                  <a:lnTo>
                    <a:pt x="121919" y="2506268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86258" y="4899431"/>
            <a:ext cx="5371465" cy="2032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25">
                <a:solidFill>
                  <a:srgbClr val="272424"/>
                </a:solidFill>
                <a:latin typeface="Arial"/>
                <a:cs typeface="Arial"/>
              </a:rPr>
              <a:t>Role-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22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72424"/>
                </a:solidFill>
                <a:latin typeface="Arial"/>
                <a:cs typeface="Arial"/>
              </a:rPr>
              <a:t>UI</a:t>
            </a:r>
            <a:r>
              <a:rPr dirty="0" sz="22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272424"/>
                </a:solidFill>
                <a:latin typeface="Arial"/>
                <a:cs typeface="Arial"/>
              </a:rPr>
              <a:t>Rendering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5100"/>
              </a:lnSpc>
              <a:spcBef>
                <a:spcPts val="1160"/>
              </a:spcBef>
            </a:pP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Frontend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components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navigation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paths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are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dynamically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rendered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based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user's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 assigned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role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(Admin,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User,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Finance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Manager),</a:t>
            </a:r>
            <a:r>
              <a:rPr dirty="0" sz="185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providing</a:t>
            </a:r>
            <a:r>
              <a:rPr dirty="0" sz="185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50">
                <a:solidFill>
                  <a:srgbClr val="272424"/>
                </a:solidFill>
                <a:latin typeface="Arial"/>
                <a:cs typeface="Arial"/>
              </a:rPr>
              <a:t>a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tailored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>
                <a:solidFill>
                  <a:srgbClr val="272424"/>
                </a:solidFill>
                <a:latin typeface="Arial"/>
                <a:cs typeface="Arial"/>
              </a:rPr>
              <a:t>user</a:t>
            </a:r>
            <a:r>
              <a:rPr dirty="0" sz="185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50" spc="-10">
                <a:solidFill>
                  <a:srgbClr val="272424"/>
                </a:solidFill>
                <a:latin typeface="Arial"/>
                <a:cs typeface="Arial"/>
              </a:rPr>
              <a:t>experience.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404379" y="4619028"/>
            <a:ext cx="6403975" cy="2597785"/>
            <a:chOff x="7404379" y="4619028"/>
            <a:chExt cx="6403975" cy="2597785"/>
          </a:xfrm>
        </p:grpSpPr>
        <p:sp>
          <p:nvSpPr>
            <p:cNvPr id="15" name="object 15" descr=""/>
            <p:cNvSpPr/>
            <p:nvPr/>
          </p:nvSpPr>
          <p:spPr>
            <a:xfrm>
              <a:off x="7434859" y="4634268"/>
              <a:ext cx="6358255" cy="2567305"/>
            </a:xfrm>
            <a:custGeom>
              <a:avLst/>
              <a:gdLst/>
              <a:ahLst/>
              <a:cxnLst/>
              <a:rect l="l" t="t" r="r" b="b"/>
              <a:pathLst>
                <a:path w="6358255" h="2567304">
                  <a:moveTo>
                    <a:pt x="0" y="146303"/>
                  </a:moveTo>
                  <a:lnTo>
                    <a:pt x="7510" y="100267"/>
                  </a:lnTo>
                  <a:lnTo>
                    <a:pt x="28384" y="60130"/>
                  </a:lnTo>
                  <a:lnTo>
                    <a:pt x="60133" y="28382"/>
                  </a:lnTo>
                  <a:lnTo>
                    <a:pt x="100270" y="7510"/>
                  </a:lnTo>
                  <a:lnTo>
                    <a:pt x="146306" y="0"/>
                  </a:lnTo>
                  <a:lnTo>
                    <a:pt x="6211506" y="0"/>
                  </a:lnTo>
                  <a:lnTo>
                    <a:pt x="6257544" y="7510"/>
                  </a:lnTo>
                  <a:lnTo>
                    <a:pt x="6297684" y="28382"/>
                  </a:lnTo>
                  <a:lnTo>
                    <a:pt x="6329435" y="60130"/>
                  </a:lnTo>
                  <a:lnTo>
                    <a:pt x="6350311" y="100267"/>
                  </a:lnTo>
                  <a:lnTo>
                    <a:pt x="6357823" y="146303"/>
                  </a:lnTo>
                  <a:lnTo>
                    <a:pt x="6357823" y="2420924"/>
                  </a:lnTo>
                  <a:lnTo>
                    <a:pt x="6350311" y="2466956"/>
                  </a:lnTo>
                  <a:lnTo>
                    <a:pt x="6329435" y="2507092"/>
                  </a:lnTo>
                  <a:lnTo>
                    <a:pt x="6297684" y="2538842"/>
                  </a:lnTo>
                  <a:lnTo>
                    <a:pt x="6257544" y="2559717"/>
                  </a:lnTo>
                  <a:lnTo>
                    <a:pt x="6211506" y="2567228"/>
                  </a:lnTo>
                  <a:lnTo>
                    <a:pt x="146306" y="2567228"/>
                  </a:lnTo>
                  <a:lnTo>
                    <a:pt x="100270" y="2559717"/>
                  </a:lnTo>
                  <a:lnTo>
                    <a:pt x="60133" y="2538842"/>
                  </a:lnTo>
                  <a:lnTo>
                    <a:pt x="28384" y="2507092"/>
                  </a:lnTo>
                  <a:lnTo>
                    <a:pt x="7510" y="2466956"/>
                  </a:lnTo>
                  <a:lnTo>
                    <a:pt x="0" y="2420924"/>
                  </a:lnTo>
                  <a:lnTo>
                    <a:pt x="0" y="146303"/>
                  </a:lnTo>
                  <a:close/>
                </a:path>
              </a:pathLst>
            </a:custGeom>
            <a:ln w="30479">
              <a:solidFill>
                <a:srgbClr val="D5B9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404379" y="4634268"/>
              <a:ext cx="121920" cy="2567305"/>
            </a:xfrm>
            <a:custGeom>
              <a:avLst/>
              <a:gdLst/>
              <a:ahLst/>
              <a:cxnLst/>
              <a:rect l="l" t="t" r="r" b="b"/>
              <a:pathLst>
                <a:path w="121920" h="2567304">
                  <a:moveTo>
                    <a:pt x="60959" y="0"/>
                  </a:moveTo>
                  <a:lnTo>
                    <a:pt x="37326" y="4822"/>
                  </a:lnTo>
                  <a:lnTo>
                    <a:pt x="17939" y="17940"/>
                  </a:lnTo>
                  <a:lnTo>
                    <a:pt x="4822" y="37327"/>
                  </a:lnTo>
                  <a:lnTo>
                    <a:pt x="0" y="60959"/>
                  </a:lnTo>
                  <a:lnTo>
                    <a:pt x="0" y="2506268"/>
                  </a:lnTo>
                  <a:lnTo>
                    <a:pt x="4822" y="2529900"/>
                  </a:lnTo>
                  <a:lnTo>
                    <a:pt x="17939" y="2549288"/>
                  </a:lnTo>
                  <a:lnTo>
                    <a:pt x="37326" y="2562406"/>
                  </a:lnTo>
                  <a:lnTo>
                    <a:pt x="60959" y="2567228"/>
                  </a:lnTo>
                  <a:lnTo>
                    <a:pt x="84592" y="2562406"/>
                  </a:lnTo>
                  <a:lnTo>
                    <a:pt x="103980" y="2549288"/>
                  </a:lnTo>
                  <a:lnTo>
                    <a:pt x="117097" y="2529900"/>
                  </a:lnTo>
                  <a:lnTo>
                    <a:pt x="121919" y="2506268"/>
                  </a:lnTo>
                  <a:lnTo>
                    <a:pt x="121919" y="60959"/>
                  </a:lnTo>
                  <a:lnTo>
                    <a:pt x="117097" y="37327"/>
                  </a:lnTo>
                  <a:lnTo>
                    <a:pt x="103980" y="17940"/>
                  </a:lnTo>
                  <a:lnTo>
                    <a:pt x="84592" y="4822"/>
                  </a:lnTo>
                  <a:lnTo>
                    <a:pt x="60959" y="0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API</a:t>
            </a:r>
            <a:r>
              <a:rPr dirty="0" spc="-50"/>
              <a:t> </a:t>
            </a:r>
            <a:r>
              <a:rPr dirty="0"/>
              <a:t>Gateway</a:t>
            </a:r>
            <a:r>
              <a:rPr dirty="0" spc="-50"/>
              <a:t> </a:t>
            </a:r>
            <a:r>
              <a:rPr dirty="0" spc="-10"/>
              <a:t>Security</a:t>
            </a:r>
          </a:p>
          <a:p>
            <a:pPr marL="12700" marR="229235">
              <a:lnSpc>
                <a:spcPct val="135100"/>
              </a:lnSpc>
              <a:spcBef>
                <a:spcPts val="1160"/>
              </a:spcBef>
            </a:pPr>
            <a:r>
              <a:rPr dirty="0" sz="1850"/>
              <a:t>The</a:t>
            </a:r>
            <a:r>
              <a:rPr dirty="0" sz="1850" spc="-20"/>
              <a:t> </a:t>
            </a:r>
            <a:r>
              <a:rPr dirty="0" sz="1850"/>
              <a:t>API</a:t>
            </a:r>
            <a:r>
              <a:rPr dirty="0" sz="1850" spc="-20"/>
              <a:t> </a:t>
            </a:r>
            <a:r>
              <a:rPr dirty="0" sz="1850"/>
              <a:t>Gateway</a:t>
            </a:r>
            <a:r>
              <a:rPr dirty="0" sz="1850" spc="-20"/>
              <a:t> </a:t>
            </a:r>
            <a:r>
              <a:rPr dirty="0" sz="1850"/>
              <a:t>enforces</a:t>
            </a:r>
            <a:r>
              <a:rPr dirty="0" sz="1850" spc="-20"/>
              <a:t> </a:t>
            </a:r>
            <a:r>
              <a:rPr dirty="0" sz="1850"/>
              <a:t>authentication</a:t>
            </a:r>
            <a:r>
              <a:rPr dirty="0" sz="1850" spc="-15"/>
              <a:t> </a:t>
            </a:r>
            <a:r>
              <a:rPr dirty="0" sz="1850" spc="-25"/>
              <a:t>and </a:t>
            </a:r>
            <a:r>
              <a:rPr dirty="0" sz="1850"/>
              <a:t>authorization</a:t>
            </a:r>
            <a:r>
              <a:rPr dirty="0" sz="1850" spc="-25"/>
              <a:t> </a:t>
            </a:r>
            <a:r>
              <a:rPr dirty="0" sz="1850"/>
              <a:t>policies,</a:t>
            </a:r>
            <a:r>
              <a:rPr dirty="0" sz="1850" spc="-25"/>
              <a:t> </a:t>
            </a:r>
            <a:r>
              <a:rPr dirty="0" sz="1850"/>
              <a:t>acting</a:t>
            </a:r>
            <a:r>
              <a:rPr dirty="0" sz="1850" spc="-20"/>
              <a:t> </a:t>
            </a:r>
            <a:r>
              <a:rPr dirty="0" sz="1850"/>
              <a:t>as</a:t>
            </a:r>
            <a:r>
              <a:rPr dirty="0" sz="1850" spc="-25"/>
              <a:t> </a:t>
            </a:r>
            <a:r>
              <a:rPr dirty="0" sz="1850"/>
              <a:t>a</a:t>
            </a:r>
            <a:r>
              <a:rPr dirty="0" sz="1850" spc="-25"/>
              <a:t> </a:t>
            </a:r>
            <a:r>
              <a:rPr dirty="0" sz="1850"/>
              <a:t>critical</a:t>
            </a:r>
            <a:r>
              <a:rPr dirty="0" sz="1850" spc="-20"/>
              <a:t> </a:t>
            </a:r>
            <a:r>
              <a:rPr dirty="0" sz="1850" spc="-10"/>
              <a:t>perimeter </a:t>
            </a:r>
            <a:r>
              <a:rPr dirty="0" sz="1850"/>
              <a:t>defense</a:t>
            </a:r>
            <a:r>
              <a:rPr dirty="0" sz="1850" spc="-25"/>
              <a:t> </a:t>
            </a:r>
            <a:r>
              <a:rPr dirty="0" sz="1850"/>
              <a:t>before</a:t>
            </a:r>
            <a:r>
              <a:rPr dirty="0" sz="1850" spc="-25"/>
              <a:t> </a:t>
            </a:r>
            <a:r>
              <a:rPr dirty="0" sz="1850"/>
              <a:t>requests</a:t>
            </a:r>
            <a:r>
              <a:rPr dirty="0" sz="1850" spc="-25"/>
              <a:t> </a:t>
            </a:r>
            <a:r>
              <a:rPr dirty="0" sz="1850"/>
              <a:t>reach</a:t>
            </a:r>
            <a:r>
              <a:rPr dirty="0" sz="1850" spc="-20"/>
              <a:t> </a:t>
            </a:r>
            <a:r>
              <a:rPr dirty="0" sz="1850" spc="-10"/>
              <a:t>individual microservices.</a:t>
            </a:r>
            <a:endParaRPr sz="1850"/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850"/>
          </a:p>
          <a:p>
            <a:pPr marL="12700">
              <a:lnSpc>
                <a:spcPct val="100000"/>
              </a:lnSpc>
            </a:pPr>
            <a:r>
              <a:rPr dirty="0"/>
              <a:t>Protected</a:t>
            </a:r>
            <a:r>
              <a:rPr dirty="0" spc="-110"/>
              <a:t> </a:t>
            </a:r>
            <a:r>
              <a:rPr dirty="0"/>
              <a:t>Frontend</a:t>
            </a:r>
            <a:r>
              <a:rPr dirty="0" spc="-110"/>
              <a:t> </a:t>
            </a:r>
            <a:r>
              <a:rPr dirty="0" spc="-10"/>
              <a:t>Routes</a:t>
            </a:r>
          </a:p>
          <a:p>
            <a:pPr marL="12700" marR="5080">
              <a:lnSpc>
                <a:spcPct val="135100"/>
              </a:lnSpc>
              <a:spcBef>
                <a:spcPts val="1160"/>
              </a:spcBef>
            </a:pPr>
            <a:r>
              <a:rPr dirty="0" sz="1850"/>
              <a:t>Unauthorized</a:t>
            </a:r>
            <a:r>
              <a:rPr dirty="0" sz="1850" spc="-25"/>
              <a:t> </a:t>
            </a:r>
            <a:r>
              <a:rPr dirty="0" sz="1850"/>
              <a:t>access</a:t>
            </a:r>
            <a:r>
              <a:rPr dirty="0" sz="1850" spc="-20"/>
              <a:t> </a:t>
            </a:r>
            <a:r>
              <a:rPr dirty="0" sz="1850"/>
              <a:t>to</a:t>
            </a:r>
            <a:r>
              <a:rPr dirty="0" sz="1850" spc="-20"/>
              <a:t> </a:t>
            </a:r>
            <a:r>
              <a:rPr dirty="0" sz="1850"/>
              <a:t>specific</a:t>
            </a:r>
            <a:r>
              <a:rPr dirty="0" sz="1850" spc="-25"/>
              <a:t> </a:t>
            </a:r>
            <a:r>
              <a:rPr dirty="0" sz="1850"/>
              <a:t>frontend</a:t>
            </a:r>
            <a:r>
              <a:rPr dirty="0" sz="1850" spc="-20"/>
              <a:t> </a:t>
            </a:r>
            <a:r>
              <a:rPr dirty="0" sz="1850"/>
              <a:t>routes</a:t>
            </a:r>
            <a:r>
              <a:rPr dirty="0" sz="1850" spc="-20"/>
              <a:t> </a:t>
            </a:r>
            <a:r>
              <a:rPr dirty="0" sz="1850" spc="-25"/>
              <a:t>is </a:t>
            </a:r>
            <a:r>
              <a:rPr dirty="0" sz="1850"/>
              <a:t>prevented,</a:t>
            </a:r>
            <a:r>
              <a:rPr dirty="0" sz="1850" spc="-20"/>
              <a:t> </a:t>
            </a:r>
            <a:r>
              <a:rPr dirty="0" sz="1850"/>
              <a:t>ensuring</a:t>
            </a:r>
            <a:r>
              <a:rPr dirty="0" sz="1850" spc="-20"/>
              <a:t> </a:t>
            </a:r>
            <a:r>
              <a:rPr dirty="0" sz="1850"/>
              <a:t>that</a:t>
            </a:r>
            <a:r>
              <a:rPr dirty="0" sz="1850" spc="-20"/>
              <a:t> </a:t>
            </a:r>
            <a:r>
              <a:rPr dirty="0" sz="1850"/>
              <a:t>only</a:t>
            </a:r>
            <a:r>
              <a:rPr dirty="0" sz="1850" spc="-20"/>
              <a:t> </a:t>
            </a:r>
            <a:r>
              <a:rPr dirty="0" sz="1850"/>
              <a:t>users</a:t>
            </a:r>
            <a:r>
              <a:rPr dirty="0" sz="1850" spc="-20"/>
              <a:t> </a:t>
            </a:r>
            <a:r>
              <a:rPr dirty="0" sz="1850"/>
              <a:t>with</a:t>
            </a:r>
            <a:r>
              <a:rPr dirty="0" sz="1850" spc="-20"/>
              <a:t> </a:t>
            </a:r>
            <a:r>
              <a:rPr dirty="0" sz="1850" spc="-10"/>
              <a:t>appropriate </a:t>
            </a:r>
            <a:r>
              <a:rPr dirty="0" sz="1850"/>
              <a:t>permissions</a:t>
            </a:r>
            <a:r>
              <a:rPr dirty="0" sz="1850" spc="-15"/>
              <a:t> </a:t>
            </a:r>
            <a:r>
              <a:rPr dirty="0" sz="1850"/>
              <a:t>can</a:t>
            </a:r>
            <a:r>
              <a:rPr dirty="0" sz="1850" spc="-15"/>
              <a:t> </a:t>
            </a:r>
            <a:r>
              <a:rPr dirty="0" sz="1850"/>
              <a:t>navigate</a:t>
            </a:r>
            <a:r>
              <a:rPr dirty="0" sz="1850" spc="-15"/>
              <a:t> </a:t>
            </a:r>
            <a:r>
              <a:rPr dirty="0" sz="1850"/>
              <a:t>to</a:t>
            </a:r>
            <a:r>
              <a:rPr dirty="0" sz="1850" spc="-10"/>
              <a:t> </a:t>
            </a:r>
            <a:r>
              <a:rPr dirty="0" sz="1850"/>
              <a:t>sensitive</a:t>
            </a:r>
            <a:r>
              <a:rPr dirty="0" sz="1850" spc="-15"/>
              <a:t> </a:t>
            </a:r>
            <a:r>
              <a:rPr dirty="0" sz="1850"/>
              <a:t>sections</a:t>
            </a:r>
            <a:r>
              <a:rPr dirty="0" sz="1850" spc="-15"/>
              <a:t> </a:t>
            </a:r>
            <a:r>
              <a:rPr dirty="0" sz="1850"/>
              <a:t>of</a:t>
            </a:r>
            <a:r>
              <a:rPr dirty="0" sz="1850" spc="-10"/>
              <a:t> </a:t>
            </a:r>
            <a:r>
              <a:rPr dirty="0" sz="1850" spc="-25"/>
              <a:t>the </a:t>
            </a:r>
            <a:r>
              <a:rPr dirty="0" sz="1850" spc="-10"/>
              <a:t>application.</a:t>
            </a:r>
            <a:endParaRPr sz="18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0258" y="638656"/>
            <a:ext cx="5332730" cy="680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3570" algn="l"/>
                <a:tab pos="2409825" algn="l"/>
              </a:tabLst>
            </a:pPr>
            <a:r>
              <a:rPr dirty="0" sz="4300" spc="-10"/>
              <a:t>Docker</a:t>
            </a:r>
            <a:r>
              <a:rPr dirty="0" sz="4300"/>
              <a:t>	</a:t>
            </a:r>
            <a:r>
              <a:rPr dirty="0" sz="4300" spc="-50"/>
              <a:t>&amp;</a:t>
            </a:r>
            <a:r>
              <a:rPr dirty="0" sz="4300"/>
              <a:t>	</a:t>
            </a:r>
            <a:r>
              <a:rPr dirty="0" sz="4300" spc="-10"/>
              <a:t>Deployment</a:t>
            </a:r>
            <a:endParaRPr sz="4300"/>
          </a:p>
        </p:txBody>
      </p:sp>
      <p:grpSp>
        <p:nvGrpSpPr>
          <p:cNvPr id="3" name="object 3" descr=""/>
          <p:cNvGrpSpPr/>
          <p:nvPr/>
        </p:nvGrpSpPr>
        <p:grpSpPr>
          <a:xfrm>
            <a:off x="812958" y="1786293"/>
            <a:ext cx="6386195" cy="697230"/>
            <a:chOff x="812958" y="1786293"/>
            <a:chExt cx="6386195" cy="697230"/>
          </a:xfrm>
        </p:grpSpPr>
        <p:sp>
          <p:nvSpPr>
            <p:cNvPr id="4" name="object 4" descr=""/>
            <p:cNvSpPr/>
            <p:nvPr/>
          </p:nvSpPr>
          <p:spPr>
            <a:xfrm>
              <a:off x="812952" y="1786292"/>
              <a:ext cx="6386195" cy="697230"/>
            </a:xfrm>
            <a:custGeom>
              <a:avLst/>
              <a:gdLst/>
              <a:ahLst/>
              <a:cxnLst/>
              <a:rect l="l" t="t" r="r" b="b"/>
              <a:pathLst>
                <a:path w="6386195" h="697230">
                  <a:moveTo>
                    <a:pt x="6386157" y="378853"/>
                  </a:moveTo>
                  <a:lnTo>
                    <a:pt x="6381331" y="355231"/>
                  </a:lnTo>
                  <a:lnTo>
                    <a:pt x="6368212" y="335838"/>
                  </a:lnTo>
                  <a:lnTo>
                    <a:pt x="6348831" y="322719"/>
                  </a:lnTo>
                  <a:lnTo>
                    <a:pt x="6325197" y="317893"/>
                  </a:lnTo>
                  <a:lnTo>
                    <a:pt x="3539312" y="317893"/>
                  </a:lnTo>
                  <a:lnTo>
                    <a:pt x="3538194" y="301383"/>
                  </a:lnTo>
                  <a:lnTo>
                    <a:pt x="3528860" y="256222"/>
                  </a:lnTo>
                  <a:lnTo>
                    <a:pt x="3513836" y="213321"/>
                  </a:lnTo>
                  <a:lnTo>
                    <a:pt x="3493541" y="173126"/>
                  </a:lnTo>
                  <a:lnTo>
                    <a:pt x="3468420" y="136055"/>
                  </a:lnTo>
                  <a:lnTo>
                    <a:pt x="3438880" y="102527"/>
                  </a:lnTo>
                  <a:lnTo>
                    <a:pt x="3405352" y="72986"/>
                  </a:lnTo>
                  <a:lnTo>
                    <a:pt x="3368281" y="47853"/>
                  </a:lnTo>
                  <a:lnTo>
                    <a:pt x="3328073" y="27559"/>
                  </a:lnTo>
                  <a:lnTo>
                    <a:pt x="3285185" y="12534"/>
                  </a:lnTo>
                  <a:lnTo>
                    <a:pt x="3240024" y="3213"/>
                  </a:lnTo>
                  <a:lnTo>
                    <a:pt x="3193021" y="0"/>
                  </a:lnTo>
                  <a:lnTo>
                    <a:pt x="3146018" y="3213"/>
                  </a:lnTo>
                  <a:lnTo>
                    <a:pt x="3100857" y="12534"/>
                  </a:lnTo>
                  <a:lnTo>
                    <a:pt x="3057956" y="27559"/>
                  </a:lnTo>
                  <a:lnTo>
                    <a:pt x="3017761" y="47853"/>
                  </a:lnTo>
                  <a:lnTo>
                    <a:pt x="2980677" y="72986"/>
                  </a:lnTo>
                  <a:lnTo>
                    <a:pt x="2947162" y="102527"/>
                  </a:lnTo>
                  <a:lnTo>
                    <a:pt x="2917621" y="136055"/>
                  </a:lnTo>
                  <a:lnTo>
                    <a:pt x="2892488" y="173126"/>
                  </a:lnTo>
                  <a:lnTo>
                    <a:pt x="2872194" y="213321"/>
                  </a:lnTo>
                  <a:lnTo>
                    <a:pt x="2857169" y="256222"/>
                  </a:lnTo>
                  <a:lnTo>
                    <a:pt x="2847848" y="301383"/>
                  </a:lnTo>
                  <a:lnTo>
                    <a:pt x="2846717" y="317893"/>
                  </a:lnTo>
                  <a:lnTo>
                    <a:pt x="60960" y="317893"/>
                  </a:lnTo>
                  <a:lnTo>
                    <a:pt x="37325" y="322719"/>
                  </a:lnTo>
                  <a:lnTo>
                    <a:pt x="17945" y="335838"/>
                  </a:lnTo>
                  <a:lnTo>
                    <a:pt x="4826" y="355231"/>
                  </a:lnTo>
                  <a:lnTo>
                    <a:pt x="0" y="378853"/>
                  </a:lnTo>
                  <a:lnTo>
                    <a:pt x="4826" y="402488"/>
                  </a:lnTo>
                  <a:lnTo>
                    <a:pt x="17945" y="421881"/>
                  </a:lnTo>
                  <a:lnTo>
                    <a:pt x="37325" y="435000"/>
                  </a:lnTo>
                  <a:lnTo>
                    <a:pt x="60960" y="439813"/>
                  </a:lnTo>
                  <a:lnTo>
                    <a:pt x="2857017" y="439813"/>
                  </a:lnTo>
                  <a:lnTo>
                    <a:pt x="2857169" y="440550"/>
                  </a:lnTo>
                  <a:lnTo>
                    <a:pt x="2872194" y="483438"/>
                  </a:lnTo>
                  <a:lnTo>
                    <a:pt x="2892488" y="523646"/>
                  </a:lnTo>
                  <a:lnTo>
                    <a:pt x="2917621" y="560717"/>
                  </a:lnTo>
                  <a:lnTo>
                    <a:pt x="2947162" y="594233"/>
                  </a:lnTo>
                  <a:lnTo>
                    <a:pt x="2980677" y="623773"/>
                  </a:lnTo>
                  <a:lnTo>
                    <a:pt x="3017761" y="648906"/>
                  </a:lnTo>
                  <a:lnTo>
                    <a:pt x="3057956" y="669201"/>
                  </a:lnTo>
                  <a:lnTo>
                    <a:pt x="3100857" y="684225"/>
                  </a:lnTo>
                  <a:lnTo>
                    <a:pt x="3146018" y="693547"/>
                  </a:lnTo>
                  <a:lnTo>
                    <a:pt x="3193021" y="696747"/>
                  </a:lnTo>
                  <a:lnTo>
                    <a:pt x="3240024" y="693547"/>
                  </a:lnTo>
                  <a:lnTo>
                    <a:pt x="3285185" y="684225"/>
                  </a:lnTo>
                  <a:lnTo>
                    <a:pt x="3328073" y="669201"/>
                  </a:lnTo>
                  <a:lnTo>
                    <a:pt x="3368281" y="648906"/>
                  </a:lnTo>
                  <a:lnTo>
                    <a:pt x="3405352" y="623773"/>
                  </a:lnTo>
                  <a:lnTo>
                    <a:pt x="3438880" y="594233"/>
                  </a:lnTo>
                  <a:lnTo>
                    <a:pt x="3468420" y="560717"/>
                  </a:lnTo>
                  <a:lnTo>
                    <a:pt x="3493541" y="523646"/>
                  </a:lnTo>
                  <a:lnTo>
                    <a:pt x="3513836" y="483438"/>
                  </a:lnTo>
                  <a:lnTo>
                    <a:pt x="3528860" y="440550"/>
                  </a:lnTo>
                  <a:lnTo>
                    <a:pt x="3528999" y="439813"/>
                  </a:lnTo>
                  <a:lnTo>
                    <a:pt x="6325197" y="439813"/>
                  </a:lnTo>
                  <a:lnTo>
                    <a:pt x="6348831" y="435000"/>
                  </a:lnTo>
                  <a:lnTo>
                    <a:pt x="6368212" y="421881"/>
                  </a:lnTo>
                  <a:lnTo>
                    <a:pt x="6381331" y="402488"/>
                  </a:lnTo>
                  <a:lnTo>
                    <a:pt x="6386157" y="378853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6553" y="1995246"/>
              <a:ext cx="278725" cy="27872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062911" y="2705747"/>
            <a:ext cx="5865495" cy="160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Dockerized</a:t>
            </a:r>
            <a:r>
              <a:rPr dirty="0" sz="2150" spc="-5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Microservices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microservice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(Order,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Product,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Warehouse,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Billing)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is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independently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containerized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with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own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dependencies,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ensuring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isolation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portability.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7431290" y="1786293"/>
            <a:ext cx="6386195" cy="697230"/>
            <a:chOff x="7431290" y="1786293"/>
            <a:chExt cx="6386195" cy="697230"/>
          </a:xfrm>
        </p:grpSpPr>
        <p:sp>
          <p:nvSpPr>
            <p:cNvPr id="8" name="object 8" descr=""/>
            <p:cNvSpPr/>
            <p:nvPr/>
          </p:nvSpPr>
          <p:spPr>
            <a:xfrm>
              <a:off x="7431290" y="1786292"/>
              <a:ext cx="6386195" cy="697230"/>
            </a:xfrm>
            <a:custGeom>
              <a:avLst/>
              <a:gdLst/>
              <a:ahLst/>
              <a:cxnLst/>
              <a:rect l="l" t="t" r="r" b="b"/>
              <a:pathLst>
                <a:path w="6386194" h="697230">
                  <a:moveTo>
                    <a:pt x="6386157" y="378853"/>
                  </a:moveTo>
                  <a:lnTo>
                    <a:pt x="6381331" y="355231"/>
                  </a:lnTo>
                  <a:lnTo>
                    <a:pt x="6368212" y="335838"/>
                  </a:lnTo>
                  <a:lnTo>
                    <a:pt x="6348819" y="322719"/>
                  </a:lnTo>
                  <a:lnTo>
                    <a:pt x="6325197" y="317893"/>
                  </a:lnTo>
                  <a:lnTo>
                    <a:pt x="3539299" y="317893"/>
                  </a:lnTo>
                  <a:lnTo>
                    <a:pt x="3538182" y="301383"/>
                  </a:lnTo>
                  <a:lnTo>
                    <a:pt x="3528847" y="256222"/>
                  </a:lnTo>
                  <a:lnTo>
                    <a:pt x="3513823" y="213321"/>
                  </a:lnTo>
                  <a:lnTo>
                    <a:pt x="3493528" y="173126"/>
                  </a:lnTo>
                  <a:lnTo>
                    <a:pt x="3468408" y="136055"/>
                  </a:lnTo>
                  <a:lnTo>
                    <a:pt x="3438868" y="102527"/>
                  </a:lnTo>
                  <a:lnTo>
                    <a:pt x="3405340" y="72986"/>
                  </a:lnTo>
                  <a:lnTo>
                    <a:pt x="3368268" y="47853"/>
                  </a:lnTo>
                  <a:lnTo>
                    <a:pt x="3328060" y="27559"/>
                  </a:lnTo>
                  <a:lnTo>
                    <a:pt x="3285172" y="12534"/>
                  </a:lnTo>
                  <a:lnTo>
                    <a:pt x="3240011" y="3213"/>
                  </a:lnTo>
                  <a:lnTo>
                    <a:pt x="3193008" y="0"/>
                  </a:lnTo>
                  <a:lnTo>
                    <a:pt x="3146006" y="3213"/>
                  </a:lnTo>
                  <a:lnTo>
                    <a:pt x="3100844" y="12534"/>
                  </a:lnTo>
                  <a:lnTo>
                    <a:pt x="3057944" y="27559"/>
                  </a:lnTo>
                  <a:lnTo>
                    <a:pt x="3017748" y="47853"/>
                  </a:lnTo>
                  <a:lnTo>
                    <a:pt x="2980664" y="72986"/>
                  </a:lnTo>
                  <a:lnTo>
                    <a:pt x="2947149" y="102527"/>
                  </a:lnTo>
                  <a:lnTo>
                    <a:pt x="2917609" y="136055"/>
                  </a:lnTo>
                  <a:lnTo>
                    <a:pt x="2892475" y="173126"/>
                  </a:lnTo>
                  <a:lnTo>
                    <a:pt x="2872181" y="213321"/>
                  </a:lnTo>
                  <a:lnTo>
                    <a:pt x="2857157" y="256222"/>
                  </a:lnTo>
                  <a:lnTo>
                    <a:pt x="2847835" y="301383"/>
                  </a:lnTo>
                  <a:lnTo>
                    <a:pt x="2846705" y="317893"/>
                  </a:lnTo>
                  <a:lnTo>
                    <a:pt x="60947" y="317893"/>
                  </a:lnTo>
                  <a:lnTo>
                    <a:pt x="37325" y="322719"/>
                  </a:lnTo>
                  <a:lnTo>
                    <a:pt x="17932" y="335838"/>
                  </a:lnTo>
                  <a:lnTo>
                    <a:pt x="4813" y="355231"/>
                  </a:lnTo>
                  <a:lnTo>
                    <a:pt x="0" y="378853"/>
                  </a:lnTo>
                  <a:lnTo>
                    <a:pt x="4813" y="402488"/>
                  </a:lnTo>
                  <a:lnTo>
                    <a:pt x="17932" y="421881"/>
                  </a:lnTo>
                  <a:lnTo>
                    <a:pt x="37325" y="435000"/>
                  </a:lnTo>
                  <a:lnTo>
                    <a:pt x="60947" y="439813"/>
                  </a:lnTo>
                  <a:lnTo>
                    <a:pt x="2857004" y="439813"/>
                  </a:lnTo>
                  <a:lnTo>
                    <a:pt x="2857157" y="440550"/>
                  </a:lnTo>
                  <a:lnTo>
                    <a:pt x="2872181" y="483438"/>
                  </a:lnTo>
                  <a:lnTo>
                    <a:pt x="2892475" y="523646"/>
                  </a:lnTo>
                  <a:lnTo>
                    <a:pt x="2917609" y="560717"/>
                  </a:lnTo>
                  <a:lnTo>
                    <a:pt x="2947149" y="594233"/>
                  </a:lnTo>
                  <a:lnTo>
                    <a:pt x="2980664" y="623773"/>
                  </a:lnTo>
                  <a:lnTo>
                    <a:pt x="3017748" y="648906"/>
                  </a:lnTo>
                  <a:lnTo>
                    <a:pt x="3057944" y="669201"/>
                  </a:lnTo>
                  <a:lnTo>
                    <a:pt x="3100844" y="684225"/>
                  </a:lnTo>
                  <a:lnTo>
                    <a:pt x="3146006" y="693547"/>
                  </a:lnTo>
                  <a:lnTo>
                    <a:pt x="3193008" y="696747"/>
                  </a:lnTo>
                  <a:lnTo>
                    <a:pt x="3240011" y="693547"/>
                  </a:lnTo>
                  <a:lnTo>
                    <a:pt x="3285172" y="684225"/>
                  </a:lnTo>
                  <a:lnTo>
                    <a:pt x="3328060" y="669201"/>
                  </a:lnTo>
                  <a:lnTo>
                    <a:pt x="3368268" y="648906"/>
                  </a:lnTo>
                  <a:lnTo>
                    <a:pt x="3405340" y="623773"/>
                  </a:lnTo>
                  <a:lnTo>
                    <a:pt x="3438868" y="594233"/>
                  </a:lnTo>
                  <a:lnTo>
                    <a:pt x="3468408" y="560717"/>
                  </a:lnTo>
                  <a:lnTo>
                    <a:pt x="3493528" y="523646"/>
                  </a:lnTo>
                  <a:lnTo>
                    <a:pt x="3513823" y="483438"/>
                  </a:lnTo>
                  <a:lnTo>
                    <a:pt x="3528847" y="440550"/>
                  </a:lnTo>
                  <a:lnTo>
                    <a:pt x="3528987" y="439813"/>
                  </a:lnTo>
                  <a:lnTo>
                    <a:pt x="6325197" y="439813"/>
                  </a:lnTo>
                  <a:lnTo>
                    <a:pt x="6348819" y="435000"/>
                  </a:lnTo>
                  <a:lnTo>
                    <a:pt x="6368212" y="421881"/>
                  </a:lnTo>
                  <a:lnTo>
                    <a:pt x="6381331" y="402488"/>
                  </a:lnTo>
                  <a:lnTo>
                    <a:pt x="6386157" y="378853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4878" y="1995246"/>
              <a:ext cx="278725" cy="278726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681239" y="2705747"/>
            <a:ext cx="5549265" cy="160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2150" spc="-10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Compose</a:t>
            </a:r>
            <a:r>
              <a:rPr dirty="0" sz="2150" spc="-9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Orchestration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Utilizes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Compose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to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define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run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 multi-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container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application,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simplifying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the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setup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management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all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12958" y="4805718"/>
            <a:ext cx="6386195" cy="697230"/>
            <a:chOff x="812958" y="4805718"/>
            <a:chExt cx="6386195" cy="697230"/>
          </a:xfrm>
        </p:grpSpPr>
        <p:sp>
          <p:nvSpPr>
            <p:cNvPr id="12" name="object 12" descr=""/>
            <p:cNvSpPr/>
            <p:nvPr/>
          </p:nvSpPr>
          <p:spPr>
            <a:xfrm>
              <a:off x="812952" y="4805718"/>
              <a:ext cx="6386195" cy="697230"/>
            </a:xfrm>
            <a:custGeom>
              <a:avLst/>
              <a:gdLst/>
              <a:ahLst/>
              <a:cxnLst/>
              <a:rect l="l" t="t" r="r" b="b"/>
              <a:pathLst>
                <a:path w="6386195" h="697229">
                  <a:moveTo>
                    <a:pt x="6386157" y="378853"/>
                  </a:moveTo>
                  <a:lnTo>
                    <a:pt x="6381331" y="355231"/>
                  </a:lnTo>
                  <a:lnTo>
                    <a:pt x="6368212" y="335838"/>
                  </a:lnTo>
                  <a:lnTo>
                    <a:pt x="6348831" y="322719"/>
                  </a:lnTo>
                  <a:lnTo>
                    <a:pt x="6325197" y="317893"/>
                  </a:lnTo>
                  <a:lnTo>
                    <a:pt x="3539312" y="317893"/>
                  </a:lnTo>
                  <a:lnTo>
                    <a:pt x="3538194" y="301383"/>
                  </a:lnTo>
                  <a:lnTo>
                    <a:pt x="3528860" y="256222"/>
                  </a:lnTo>
                  <a:lnTo>
                    <a:pt x="3513836" y="213321"/>
                  </a:lnTo>
                  <a:lnTo>
                    <a:pt x="3493541" y="173126"/>
                  </a:lnTo>
                  <a:lnTo>
                    <a:pt x="3468420" y="136055"/>
                  </a:lnTo>
                  <a:lnTo>
                    <a:pt x="3438880" y="102527"/>
                  </a:lnTo>
                  <a:lnTo>
                    <a:pt x="3405352" y="72986"/>
                  </a:lnTo>
                  <a:lnTo>
                    <a:pt x="3368281" y="47853"/>
                  </a:lnTo>
                  <a:lnTo>
                    <a:pt x="3328073" y="27559"/>
                  </a:lnTo>
                  <a:lnTo>
                    <a:pt x="3285185" y="12534"/>
                  </a:lnTo>
                  <a:lnTo>
                    <a:pt x="3240024" y="3213"/>
                  </a:lnTo>
                  <a:lnTo>
                    <a:pt x="3193021" y="0"/>
                  </a:lnTo>
                  <a:lnTo>
                    <a:pt x="3146018" y="3213"/>
                  </a:lnTo>
                  <a:lnTo>
                    <a:pt x="3100857" y="12534"/>
                  </a:lnTo>
                  <a:lnTo>
                    <a:pt x="3057956" y="27559"/>
                  </a:lnTo>
                  <a:lnTo>
                    <a:pt x="3017761" y="47853"/>
                  </a:lnTo>
                  <a:lnTo>
                    <a:pt x="2980677" y="72986"/>
                  </a:lnTo>
                  <a:lnTo>
                    <a:pt x="2947162" y="102527"/>
                  </a:lnTo>
                  <a:lnTo>
                    <a:pt x="2917621" y="136055"/>
                  </a:lnTo>
                  <a:lnTo>
                    <a:pt x="2892488" y="173126"/>
                  </a:lnTo>
                  <a:lnTo>
                    <a:pt x="2872194" y="213321"/>
                  </a:lnTo>
                  <a:lnTo>
                    <a:pt x="2857169" y="256222"/>
                  </a:lnTo>
                  <a:lnTo>
                    <a:pt x="2847848" y="301383"/>
                  </a:lnTo>
                  <a:lnTo>
                    <a:pt x="2846717" y="317893"/>
                  </a:lnTo>
                  <a:lnTo>
                    <a:pt x="60960" y="317893"/>
                  </a:lnTo>
                  <a:lnTo>
                    <a:pt x="37325" y="322719"/>
                  </a:lnTo>
                  <a:lnTo>
                    <a:pt x="17945" y="335838"/>
                  </a:lnTo>
                  <a:lnTo>
                    <a:pt x="4826" y="355231"/>
                  </a:lnTo>
                  <a:lnTo>
                    <a:pt x="0" y="378853"/>
                  </a:lnTo>
                  <a:lnTo>
                    <a:pt x="4826" y="402488"/>
                  </a:lnTo>
                  <a:lnTo>
                    <a:pt x="17945" y="421881"/>
                  </a:lnTo>
                  <a:lnTo>
                    <a:pt x="37325" y="435000"/>
                  </a:lnTo>
                  <a:lnTo>
                    <a:pt x="60960" y="439813"/>
                  </a:lnTo>
                  <a:lnTo>
                    <a:pt x="2857017" y="439813"/>
                  </a:lnTo>
                  <a:lnTo>
                    <a:pt x="2857169" y="440550"/>
                  </a:lnTo>
                  <a:lnTo>
                    <a:pt x="2872194" y="483438"/>
                  </a:lnTo>
                  <a:lnTo>
                    <a:pt x="2892488" y="523646"/>
                  </a:lnTo>
                  <a:lnTo>
                    <a:pt x="2917621" y="560717"/>
                  </a:lnTo>
                  <a:lnTo>
                    <a:pt x="2947162" y="594233"/>
                  </a:lnTo>
                  <a:lnTo>
                    <a:pt x="2980677" y="623773"/>
                  </a:lnTo>
                  <a:lnTo>
                    <a:pt x="3017761" y="648906"/>
                  </a:lnTo>
                  <a:lnTo>
                    <a:pt x="3057956" y="669201"/>
                  </a:lnTo>
                  <a:lnTo>
                    <a:pt x="3100857" y="684225"/>
                  </a:lnTo>
                  <a:lnTo>
                    <a:pt x="3146018" y="693547"/>
                  </a:lnTo>
                  <a:lnTo>
                    <a:pt x="3193021" y="696747"/>
                  </a:lnTo>
                  <a:lnTo>
                    <a:pt x="3240024" y="693547"/>
                  </a:lnTo>
                  <a:lnTo>
                    <a:pt x="3285185" y="684225"/>
                  </a:lnTo>
                  <a:lnTo>
                    <a:pt x="3328073" y="669201"/>
                  </a:lnTo>
                  <a:lnTo>
                    <a:pt x="3368281" y="648906"/>
                  </a:lnTo>
                  <a:lnTo>
                    <a:pt x="3405352" y="623773"/>
                  </a:lnTo>
                  <a:lnTo>
                    <a:pt x="3438880" y="594233"/>
                  </a:lnTo>
                  <a:lnTo>
                    <a:pt x="3468420" y="560717"/>
                  </a:lnTo>
                  <a:lnTo>
                    <a:pt x="3493541" y="523646"/>
                  </a:lnTo>
                  <a:lnTo>
                    <a:pt x="3513836" y="483438"/>
                  </a:lnTo>
                  <a:lnTo>
                    <a:pt x="3528860" y="440550"/>
                  </a:lnTo>
                  <a:lnTo>
                    <a:pt x="3528999" y="439813"/>
                  </a:lnTo>
                  <a:lnTo>
                    <a:pt x="6325197" y="439813"/>
                  </a:lnTo>
                  <a:lnTo>
                    <a:pt x="6348831" y="435000"/>
                  </a:lnTo>
                  <a:lnTo>
                    <a:pt x="6368212" y="421881"/>
                  </a:lnTo>
                  <a:lnTo>
                    <a:pt x="6381331" y="402488"/>
                  </a:lnTo>
                  <a:lnTo>
                    <a:pt x="6386157" y="378853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6553" y="5014671"/>
              <a:ext cx="278725" cy="27872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062911" y="5725172"/>
            <a:ext cx="5575300" cy="160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PostgreSQL</a:t>
            </a:r>
            <a:r>
              <a:rPr dirty="0" sz="2150" spc="-1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Containers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Each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microservice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uses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its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own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dedicated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PostgreSQL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database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running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in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container,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providing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isolated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persistent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data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storage.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7431290" y="4805718"/>
            <a:ext cx="6386195" cy="697230"/>
            <a:chOff x="7431290" y="4805718"/>
            <a:chExt cx="6386195" cy="697230"/>
          </a:xfrm>
        </p:grpSpPr>
        <p:sp>
          <p:nvSpPr>
            <p:cNvPr id="16" name="object 16" descr=""/>
            <p:cNvSpPr/>
            <p:nvPr/>
          </p:nvSpPr>
          <p:spPr>
            <a:xfrm>
              <a:off x="7431290" y="4805718"/>
              <a:ext cx="6386195" cy="697230"/>
            </a:xfrm>
            <a:custGeom>
              <a:avLst/>
              <a:gdLst/>
              <a:ahLst/>
              <a:cxnLst/>
              <a:rect l="l" t="t" r="r" b="b"/>
              <a:pathLst>
                <a:path w="6386194" h="697229">
                  <a:moveTo>
                    <a:pt x="6386157" y="378853"/>
                  </a:moveTo>
                  <a:lnTo>
                    <a:pt x="6381331" y="355231"/>
                  </a:lnTo>
                  <a:lnTo>
                    <a:pt x="6368212" y="335838"/>
                  </a:lnTo>
                  <a:lnTo>
                    <a:pt x="6348819" y="322719"/>
                  </a:lnTo>
                  <a:lnTo>
                    <a:pt x="6325197" y="317893"/>
                  </a:lnTo>
                  <a:lnTo>
                    <a:pt x="3539299" y="317893"/>
                  </a:lnTo>
                  <a:lnTo>
                    <a:pt x="3538182" y="301383"/>
                  </a:lnTo>
                  <a:lnTo>
                    <a:pt x="3528847" y="256222"/>
                  </a:lnTo>
                  <a:lnTo>
                    <a:pt x="3513823" y="213321"/>
                  </a:lnTo>
                  <a:lnTo>
                    <a:pt x="3493528" y="173126"/>
                  </a:lnTo>
                  <a:lnTo>
                    <a:pt x="3468408" y="136055"/>
                  </a:lnTo>
                  <a:lnTo>
                    <a:pt x="3438868" y="102527"/>
                  </a:lnTo>
                  <a:lnTo>
                    <a:pt x="3405340" y="72986"/>
                  </a:lnTo>
                  <a:lnTo>
                    <a:pt x="3368268" y="47853"/>
                  </a:lnTo>
                  <a:lnTo>
                    <a:pt x="3328060" y="27559"/>
                  </a:lnTo>
                  <a:lnTo>
                    <a:pt x="3285172" y="12534"/>
                  </a:lnTo>
                  <a:lnTo>
                    <a:pt x="3240011" y="3213"/>
                  </a:lnTo>
                  <a:lnTo>
                    <a:pt x="3193008" y="0"/>
                  </a:lnTo>
                  <a:lnTo>
                    <a:pt x="3146006" y="3213"/>
                  </a:lnTo>
                  <a:lnTo>
                    <a:pt x="3100844" y="12534"/>
                  </a:lnTo>
                  <a:lnTo>
                    <a:pt x="3057944" y="27559"/>
                  </a:lnTo>
                  <a:lnTo>
                    <a:pt x="3017748" y="47853"/>
                  </a:lnTo>
                  <a:lnTo>
                    <a:pt x="2980664" y="72986"/>
                  </a:lnTo>
                  <a:lnTo>
                    <a:pt x="2947149" y="102527"/>
                  </a:lnTo>
                  <a:lnTo>
                    <a:pt x="2917609" y="136055"/>
                  </a:lnTo>
                  <a:lnTo>
                    <a:pt x="2892475" y="173126"/>
                  </a:lnTo>
                  <a:lnTo>
                    <a:pt x="2872181" y="213321"/>
                  </a:lnTo>
                  <a:lnTo>
                    <a:pt x="2857157" y="256222"/>
                  </a:lnTo>
                  <a:lnTo>
                    <a:pt x="2847835" y="301383"/>
                  </a:lnTo>
                  <a:lnTo>
                    <a:pt x="2846705" y="317893"/>
                  </a:lnTo>
                  <a:lnTo>
                    <a:pt x="60947" y="317893"/>
                  </a:lnTo>
                  <a:lnTo>
                    <a:pt x="37325" y="322719"/>
                  </a:lnTo>
                  <a:lnTo>
                    <a:pt x="17932" y="335838"/>
                  </a:lnTo>
                  <a:lnTo>
                    <a:pt x="4813" y="355231"/>
                  </a:lnTo>
                  <a:lnTo>
                    <a:pt x="0" y="378853"/>
                  </a:lnTo>
                  <a:lnTo>
                    <a:pt x="4813" y="402488"/>
                  </a:lnTo>
                  <a:lnTo>
                    <a:pt x="17932" y="421881"/>
                  </a:lnTo>
                  <a:lnTo>
                    <a:pt x="37325" y="435000"/>
                  </a:lnTo>
                  <a:lnTo>
                    <a:pt x="60947" y="439813"/>
                  </a:lnTo>
                  <a:lnTo>
                    <a:pt x="2857004" y="439813"/>
                  </a:lnTo>
                  <a:lnTo>
                    <a:pt x="2857157" y="440550"/>
                  </a:lnTo>
                  <a:lnTo>
                    <a:pt x="2872181" y="483438"/>
                  </a:lnTo>
                  <a:lnTo>
                    <a:pt x="2892475" y="523646"/>
                  </a:lnTo>
                  <a:lnTo>
                    <a:pt x="2917609" y="560717"/>
                  </a:lnTo>
                  <a:lnTo>
                    <a:pt x="2947149" y="594233"/>
                  </a:lnTo>
                  <a:lnTo>
                    <a:pt x="2980664" y="623773"/>
                  </a:lnTo>
                  <a:lnTo>
                    <a:pt x="3017748" y="648906"/>
                  </a:lnTo>
                  <a:lnTo>
                    <a:pt x="3057944" y="669201"/>
                  </a:lnTo>
                  <a:lnTo>
                    <a:pt x="3100844" y="684225"/>
                  </a:lnTo>
                  <a:lnTo>
                    <a:pt x="3146006" y="693547"/>
                  </a:lnTo>
                  <a:lnTo>
                    <a:pt x="3193008" y="696747"/>
                  </a:lnTo>
                  <a:lnTo>
                    <a:pt x="3240011" y="693547"/>
                  </a:lnTo>
                  <a:lnTo>
                    <a:pt x="3285172" y="684225"/>
                  </a:lnTo>
                  <a:lnTo>
                    <a:pt x="3328060" y="669201"/>
                  </a:lnTo>
                  <a:lnTo>
                    <a:pt x="3368268" y="648906"/>
                  </a:lnTo>
                  <a:lnTo>
                    <a:pt x="3405340" y="623773"/>
                  </a:lnTo>
                  <a:lnTo>
                    <a:pt x="3438868" y="594233"/>
                  </a:lnTo>
                  <a:lnTo>
                    <a:pt x="3468408" y="560717"/>
                  </a:lnTo>
                  <a:lnTo>
                    <a:pt x="3493528" y="523646"/>
                  </a:lnTo>
                  <a:lnTo>
                    <a:pt x="3513823" y="483438"/>
                  </a:lnTo>
                  <a:lnTo>
                    <a:pt x="3528847" y="440550"/>
                  </a:lnTo>
                  <a:lnTo>
                    <a:pt x="3528987" y="439813"/>
                  </a:lnTo>
                  <a:lnTo>
                    <a:pt x="6325197" y="439813"/>
                  </a:lnTo>
                  <a:lnTo>
                    <a:pt x="6348819" y="435000"/>
                  </a:lnTo>
                  <a:lnTo>
                    <a:pt x="6368212" y="421881"/>
                  </a:lnTo>
                  <a:lnTo>
                    <a:pt x="6381331" y="402488"/>
                  </a:lnTo>
                  <a:lnTo>
                    <a:pt x="6386157" y="378853"/>
                  </a:lnTo>
                  <a:close/>
                </a:path>
              </a:pathLst>
            </a:custGeom>
            <a:solidFill>
              <a:srgbClr val="BD48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4878" y="5014671"/>
              <a:ext cx="278725" cy="278726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681239" y="5725172"/>
            <a:ext cx="5586730" cy="1603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>
                <a:solidFill>
                  <a:srgbClr val="272424"/>
                </a:solidFill>
                <a:latin typeface="Arial"/>
                <a:cs typeface="Arial"/>
              </a:rPr>
              <a:t>Consistent</a:t>
            </a:r>
            <a:r>
              <a:rPr dirty="0" sz="2150" spc="-14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272424"/>
                </a:solidFill>
                <a:latin typeface="Arial"/>
                <a:cs typeface="Arial"/>
              </a:rPr>
              <a:t>Environment</a:t>
            </a:r>
            <a:endParaRPr sz="2150">
              <a:latin typeface="Arial"/>
              <a:cs typeface="Arial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Docker</a:t>
            </a:r>
            <a:r>
              <a:rPr dirty="0" sz="1800" spc="-3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ensures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consistent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development,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testing,</a:t>
            </a:r>
            <a:r>
              <a:rPr dirty="0" sz="1800" spc="-1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production</a:t>
            </a:r>
            <a:r>
              <a:rPr dirty="0" sz="1800" spc="-3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environment,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eliminating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"it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works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on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my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machine"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issues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and</a:t>
            </a:r>
            <a:r>
              <a:rPr dirty="0" sz="1800" spc="-25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272424"/>
                </a:solidFill>
                <a:latin typeface="Arial"/>
                <a:cs typeface="Arial"/>
              </a:rPr>
              <a:t>streamlining</a:t>
            </a:r>
            <a:r>
              <a:rPr dirty="0" sz="1800" spc="-20">
                <a:solidFill>
                  <a:srgbClr val="272424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272424"/>
                </a:solidFill>
                <a:latin typeface="Arial"/>
                <a:cs typeface="Arial"/>
              </a:rPr>
              <a:t>deployments.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023" y="3766159"/>
            <a:ext cx="272796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20850" algn="l"/>
              </a:tabLst>
            </a:pPr>
            <a:r>
              <a:rPr dirty="0" spc="-10"/>
              <a:t>Thank</a:t>
            </a:r>
            <a:r>
              <a:rPr dirty="0"/>
              <a:t>	</a:t>
            </a:r>
            <a:r>
              <a:rPr dirty="0" spc="-2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2026-01-06T19:48:23Z</dcterms:created>
  <dcterms:modified xsi:type="dcterms:W3CDTF">2026-01-06T19:48:23Z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LastSaved">
    <vt:filetime>2026-01-06T00:00:00Z</vt:filetime>
  </property>
  <property fmtid="{D5CDD505-2E9C-101B-9397-08002B2CF9AE}" pid="4" name="Producer">
    <vt:lpwstr>3-Heights(TM) PDF Security Shell 4.8.25.2 (http://www.pdf-tools.com)</vt:lpwstr>
  </property>
</Properties>
</file>